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ca215d5-ca98-85ac-5de4-b618adb09178}">
          <p14:sldIdLst>
            <p14:sldId id="256"/>
          </p14:sldIdLst>
        </p14:section>
        <p14:section name="Problem" id="{f014aa30-6f41-855f-1721-47b0b0acae77}">
          <p14:sldIdLst>
            <p14:sldId id="257"/>
            <p14:sldId id="258"/>
          </p14:sldIdLst>
        </p14:section>
        <p14:section name="Solution" id="{76f28b61-6605-d5ed-c101-ce962ad30eb8}">
          <p14:sldIdLst>
            <p14:sldId id="259"/>
            <p14:sldId id="260"/>
          </p14:sldIdLst>
        </p14:section>
        <p14:section name="Demo (prototype)" id="{a930e40a-94dc-63b9-7954-6ee9ff37fa8c}">
          <p14:sldIdLst>
            <p14:sldId id="261"/>
            <p14:sldId id="262"/>
            <p14:sldId id="263"/>
          </p14:sldIdLst>
        </p14:section>
        <p14:section name="Going live" id="{c0c41582-44a5-d0b9-a58f-14cc1adacc6b}">
          <p14:sldIdLst>
            <p14:sldId id="264"/>
            <p14:sldId id="265"/>
          </p14:sldIdLst>
        </p14:section>
        <p14:section name="Close" id="{b9c1049e-1d41-05ea-e3b7-e2b5cd1f13cd}">
          <p14:sldIdLst>
            <p14:sldId id="266"/>
          </p14:sldIdLst>
        </p14:section>
        <p14:section name="Appendix" id="{8cb7f7e3-8738-d4f3-ca5a-798f6b71e65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Women's garden groups in The Gambia don't lack information. They lack a clear answer and a buyer. Kafo Signal gives both.
(One-line pitch: The Gambia already has price and advice services — what's missing is the step from information to a decision, and from a decision to a buyer who pays. Kafo Signal gives a clear answer and a real order.)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Women do most vegetable farming; ~41% of adults can't read; women's literacy 47% vs men 67%; Mandinka is almost absent from speech technology.
Sources: 1:3,000 extension ratio (DG of Agriculture, May 2025); 22.1% market-information access (Agricultural Census 2011/12); "up to half" of vegetables lost (AfDB via AllAfrica, Jun 2026); adult literacy 58.7%.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plug into these, we don't compete. Marché Kibaroo prices are a data source for us. All are donor-funded; ROOTS ends ~2027 — so a buyer-funded model matters.
(Existing services have no published usage data.)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each answer is decided (rules-based, no AI — transparent, works with little data, and every answer shows its reason, e.g. "Avoid tomato: 14 kafos are already growing it"):
- What to plant? Amount already planted vs. what buyers ordered. Lots planted + few orders → AVOID. Little planted + buyer waiting → GOOD.
- Where to sell? Market price minus transport, vs. usual price. A confirmed buyer is always GOOD. Old prices are never shown ("no recent price").
- Is anything coming? Farmer reports alone only reach CAREFUL. ACT NOW needs the leader to confirm, or an official warning.
The same answer reaches each user in their channel: a colour tile in the leader app, one word on the basic phone, a spoken sentence on the voice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order is the key design choice: it's what lets us say "okra is GOOD, a buyer is waiting" and stops every kafo planting tomato.
Demo story ("Fatou's season"): Hotel posts 150 kg okra in ~10 weeks → farmer dials *1234#, sees Tomato: DON'T PLANT · Okra: GOOD, buyer waiting → leader accepts order, logs 40 beds → insect reports turn okra YELLOW → heavy rain warning: SMS + call "ACT NOW, harvest early" → leader weighs each woman's okra → buyer pays each farmer directly by Wave → SMS "PAID 38 kg okra".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USSD runs on 2G with no data bundle. Voice uses pre-recorded clips because speech tech barely supports Mandinka.
What the judges see: the on-screen phone simulator from our live demo site (Awa, Brikama kafo). Left: the *1234# main menu. Middle: "1 What to plant" — Tomato: DON'T PLANT, Onion: CAREFUL, Pepper: GOOD TO PLANT, Okra: GOOD-buyer waiting (the screen is scrolled one line so the okra answer is complete). Right: Binta's inbox after the admin triggers heavy rain — "ACT NOW: Heavy rain in 2 days. Harvest ripe crops early."
This is a prototype: USSD/SMS run in a simulator and voice is simulated. The network name shown on the drawn phone is part of the drawing — the demo is not connected to any operator. *1234# / *4321# are placeholder codes until PURA assigns real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verified leaders record plantings and accept orders, so one wrong entry can't mislead every kafo.
Screens from the leader app (Fatou, Brikama Women's Kafo): tomato ✕ Don't plant (red), onion ! Careful (yellow), pepper and okra ✓ Good to plant (green — okra: "A buyer is waiting"). Note: in the app these signal tiles are on the Home tab (the Plant tab is where plantings are logged), so the screenshot shows Home. Right: the Sell tab with the Coastal Hotel (demo) order for 150 kg okra and the Accept 150 kg button. All names, prices and orders are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Buyers pay at collection or within 48h; late payers lose their rating. Buyers see the kafo, never individual farmers' names or numbers.
Screens: the buyer website for Coastal Hotel (demo) — the Harvest outlook tab (expected kg per week per crop for the next 8 weeks, from leaders' planting logs). The Post order form is on the next tab (screenshot 06b-buyer-post-order.png is in the screenshots folder if you want to show it). Top right: the 150 kg okra order after delivery — stage Paid, "Paid D8,250 directly to 3 farmers". Bottom: Awa's phone receives "PAID: 38kg okra delivered. D2090 sent to your Wave."
Payments are mocked in the prototype — nothing is connected to Wave or any mobile-money provider. Prices are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world only — none of these are used in the demo.
International SMS providers (BudgetSMS, SMS.to, Infobip) can send one-way alerts to Gambia today for roughly €0.03–0.10 per SMS, but they do not support two-way SMS or short codes in Gambia — so the USSD menu must go through Africell/QCell (or a licensed local value-added-service partner). Africa's Talking is not live in Gambia — we use its simulator only for the demo.
Terms (verified): Africell/QCell — operator revenue-share terms are not public, to negotiate. PURA — D10,000 application + D25,000/yr per code; toll-free number D5,000 + D7,500/yr; social-service numbers can be exempt from annual fees. Wave enables payouts per business after a compliance check; Modem Pay is one API for Wave, QMoney, Afrimoney. Prices &amp; weather — partnership; Open-Meteo is free. Buyers — fee per completed order. Reach &amp; trust — partnership.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Cost-saving option: use ONE code (*1234#, with "6 = Call me") instead of two, which halves code fees. Two alternatives to a full PURA licence: (a) run under an operator's existing code as a partner service, (b) partner with a licensed value-added-service provider (a VAS licence itself is D75,000 + US$10,000 for 5 years — too big for us now).
Check before presenting: the PURA 2026 fee regulations come into force on a date the Minister gazettes — confirm with PURA that they apply now. PURA may also waive fees for public interest, innovation or small community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Fatou: "She didn't get more data. She got an answer, a buyer, and her money on her phone."
(If asked about data protection: the Personal Data Protection and Privacy Act 2025 requires consent for storing farmer phone and location data — we ask for consent at sign-up.)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(Section 6 of the build guide):
- PURA Unified Fees Regulations 2026: https://pura.gm/wp-content/uploads/2026/04/PURA-Unified-Fees-Regulations-2026.pdf
- Gambia SMS guide (no two-way SMS / short codes; Africell largest share): https://www.sent.dm/en/resources/sms-compliance/gambia-sms-guide
- SMS gateway prices: https://budgetsms.net/sms-gateway-pricing/gm/gambia
- Gamcel sender IDs registered in advance: https://d7networks.com/sms/gambia/
- 9-digit numbering: https://static0.twilio.com/en-us/guidelines/gm/sms · https://osiris.sn/telephonie-la-gambie-annonce-le-passage-aux-numeros-a-neuf-chiffres-pour.html
- Africa's Talking countries: https://help.africastalking.com/en/articles/2727792-which-countries-are-africa-s-talking-products-in
- Viamo 3-2-1: https://hifa.org/node/96850142
- Wave Business API: https://providers.apievangelist.com/providers/wave-mobile-money/ · payouts per business: https://packagist.org/packages/thales/wave · agents: https://help.taptapsend.com/en/receiving-countries/how-can-i-send-money-to-the-gambia
- Modem Pay: https://vc4a.com/ventures/modem-pay-limited · Afrimoney APIs: https://www.africell.com/?p=939
- Marché Kibaroo: https://marchekibaroo.org/post/twenty-one-markets-of-the-mis
- Gambia Hotel Association B2B: https://academicnewsletter.sufe.edu.cn/info/461856
- WFP school feeding: https://docs.wfp.org/api/documents/WFP-0000172828/download · WFP + ITC women farmers: https://news.fundsforngos.org/2026/09/18/gambia-women-farmers-local-food-schools/
- Problem stats: team research report and challenge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44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rgbClr val="144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686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Kafo Signal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From farm information to a decision — and a buyer who pays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UTG ITCA Hackathon 2026 · Challenge 02  ·  [TEAM NAME]</a:t>
            </a:r>
            <a:endParaRPr lang="en-US" sz="1200" dirty="0"/>
          </a:p>
        </p:txBody>
      </p:sp>
      <p:sp>
        <p:nvSpPr>
          <p:cNvPr id="5" name="traffic light housing"/>
          <p:cNvSpPr/>
          <p:nvPr/>
        </p:nvSpPr>
        <p:spPr>
          <a:xfrm>
            <a:off x="9235440" y="822960"/>
            <a:ext cx="1737360" cy="5212080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6" name="light avoid"/>
          <p:cNvSpPr/>
          <p:nvPr/>
        </p:nvSpPr>
        <p:spPr>
          <a:xfrm>
            <a:off x="9464040" y="1143000"/>
            <a:ext cx="1280160" cy="1280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void pill"/>
          <p:cNvSpPr/>
          <p:nvPr/>
        </p:nvSpPr>
        <p:spPr>
          <a:xfrm>
            <a:off x="7360920" y="158191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✕  AVOID</a:t>
            </a:r>
            <a:endParaRPr lang="en-US" sz="1400" dirty="0"/>
          </a:p>
        </p:txBody>
      </p:sp>
      <p:sp>
        <p:nvSpPr>
          <p:cNvPr id="8" name="light careful"/>
          <p:cNvSpPr/>
          <p:nvPr/>
        </p:nvSpPr>
        <p:spPr>
          <a:xfrm>
            <a:off x="9464040" y="278892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careful pill"/>
          <p:cNvSpPr/>
          <p:nvPr/>
        </p:nvSpPr>
        <p:spPr>
          <a:xfrm>
            <a:off x="7360920" y="322783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!  CAREFUL</a:t>
            </a:r>
            <a:endParaRPr lang="en-US" sz="1400" dirty="0"/>
          </a:p>
        </p:txBody>
      </p:sp>
      <p:sp>
        <p:nvSpPr>
          <p:cNvPr id="10" name="light good"/>
          <p:cNvSpPr/>
          <p:nvPr/>
        </p:nvSpPr>
        <p:spPr>
          <a:xfrm>
            <a:off x="9464040" y="443484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good pill"/>
          <p:cNvSpPr/>
          <p:nvPr/>
        </p:nvSpPr>
        <p:spPr>
          <a:xfrm>
            <a:off x="7360920" y="487375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  GOOD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Farmers get numbers, not decisions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554480"/>
            <a:ext cx="345429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: 3,000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8036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extension workers to farmers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3192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Dept. of Agriculture, 2025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4368698" y="1554480"/>
            <a:ext cx="345429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8738" y="1783080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22%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288036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farm households with any market information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88738" y="393192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Agricultural Census 2011/12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8188757" y="1554480"/>
            <a:ext cx="345429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8797" y="1783080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Up to 50%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508797" y="288036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 vegetables lost after harvest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08797" y="393192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Gambia + Sub-Saharan Africa · AfDB 2026</a:t>
            </a:r>
            <a:endParaRPr lang="en-US" sz="1100" dirty="0"/>
          </a:p>
        </p:txBody>
      </p:sp>
      <p:sp>
        <p:nvSpPr>
          <p:cNvPr id="15" name="chain 1"/>
          <p:cNvSpPr/>
          <p:nvPr/>
        </p:nvSpPr>
        <p:spPr>
          <a:xfrm>
            <a:off x="548640" y="5074920"/>
            <a:ext cx="374904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Everyone plants tomato at the same time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4389120" y="534924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chain 2"/>
          <p:cNvSpPr/>
          <p:nvPr/>
        </p:nvSpPr>
        <p:spPr>
          <a:xfrm>
            <a:off x="4754880" y="507492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!  Glut</a:t>
            </a:r>
            <a:endParaRPr lang="en-US" sz="1500" dirty="0"/>
          </a:p>
        </p:txBody>
      </p:sp>
      <p:sp>
        <p:nvSpPr>
          <p:cNvPr id="18" name="arrow"/>
          <p:cNvSpPr/>
          <p:nvPr/>
        </p:nvSpPr>
        <p:spPr>
          <a:xfrm>
            <a:off x="6583680" y="534924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chain 3"/>
          <p:cNvSpPr/>
          <p:nvPr/>
        </p:nvSpPr>
        <p:spPr>
          <a:xfrm>
            <a:off x="6949440" y="507492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✕  “Giveaway” prices</a:t>
            </a:r>
            <a:endParaRPr lang="en-US" sz="1500" dirty="0"/>
          </a:p>
        </p:txBody>
      </p:sp>
      <p:sp>
        <p:nvSpPr>
          <p:cNvPr id="20" name="arrow"/>
          <p:cNvSpPr/>
          <p:nvPr/>
        </p:nvSpPr>
        <p:spPr>
          <a:xfrm>
            <a:off x="9509760" y="534924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chain 4"/>
          <p:cNvSpPr/>
          <p:nvPr/>
        </p:nvSpPr>
        <p:spPr>
          <a:xfrm>
            <a:off x="9875520" y="507492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✕  Spoilage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pipes exist. The last step is missing</a:t>
            </a:r>
            <a:endParaRPr lang="en-US" sz="3600" dirty="0"/>
          </a:p>
        </p:txBody>
      </p:sp>
      <p:sp>
        <p:nvSpPr>
          <p:cNvPr id="3" name="Marché Kibaroo card"/>
          <p:cNvSpPr/>
          <p:nvPr/>
        </p:nvSpPr>
        <p:spPr>
          <a:xfrm>
            <a:off x="548640" y="1508760"/>
            <a:ext cx="57607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Marché Kibaroo circle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Marché Kibaro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773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099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Marché Kibaroo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Voice price service · 29 markets · English + 5 local languages</a:t>
            </a:r>
            <a:endParaRPr lang="en-US" sz="1500" dirty="0"/>
          </a:p>
        </p:txBody>
      </p:sp>
      <p:sp>
        <p:nvSpPr>
          <p:cNvPr id="7" name="Senenyaa Bantabaa card"/>
          <p:cNvSpPr/>
          <p:nvPr/>
        </p:nvSpPr>
        <p:spPr>
          <a:xfrm>
            <a:off x="548640" y="2971800"/>
            <a:ext cx="57607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Senenyaa Bantabaa circle"/>
          <p:cNvSpPr/>
          <p:nvPr/>
        </p:nvSpPr>
        <p:spPr>
          <a:xfrm>
            <a:off x="822960" y="32918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Senenyaa Bantaba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44043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17296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Senenyaa Bantabaa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Government e-extension phone line · 4 languages</a:t>
            </a:r>
            <a:endParaRPr lang="en-US" sz="1500" dirty="0"/>
          </a:p>
        </p:txBody>
      </p:sp>
      <p:sp>
        <p:nvSpPr>
          <p:cNvPr id="11" name="Jokkalante card"/>
          <p:cNvSpPr/>
          <p:nvPr/>
        </p:nvSpPr>
        <p:spPr>
          <a:xfrm>
            <a:off x="548640" y="4434840"/>
            <a:ext cx="57607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Jokkalante circle"/>
          <p:cNvSpPr/>
          <p:nvPr/>
        </p:nvSpPr>
        <p:spPr>
          <a:xfrm>
            <a:off x="822960" y="47548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Jokkalan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9034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6360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Jokkalante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WhatsApp buyer linkage · needs smartphone + data</a:t>
            </a:r>
            <a:endParaRPr lang="en-US" sz="1500" dirty="0"/>
          </a:p>
        </p:txBody>
      </p:sp>
      <p:sp>
        <p:nvSpPr>
          <p:cNvPr id="15" name="arrow to gap"/>
          <p:cNvSpPr/>
          <p:nvPr/>
        </p:nvSpPr>
        <p:spPr>
          <a:xfrm>
            <a:off x="6583680" y="3657600"/>
            <a:ext cx="731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gap card"/>
          <p:cNvSpPr/>
          <p:nvPr/>
        </p:nvSpPr>
        <p:spPr>
          <a:xfrm>
            <a:off x="7589520" y="1508760"/>
            <a:ext cx="4053535" cy="4160520"/>
          </a:xfrm>
          <a:prstGeom prst="roundRect">
            <a:avLst>
              <a:gd name="adj" fmla="val 2707"/>
            </a:avLst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7" name="avoid pill"/>
          <p:cNvSpPr/>
          <p:nvPr/>
        </p:nvSpPr>
        <p:spPr>
          <a:xfrm>
            <a:off x="7909560" y="1828800"/>
            <a:ext cx="1737360" cy="4114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✕  THE GAP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909560" y="256032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 one turns information into </a:t>
            </a:r>
            <a:pPr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what to do.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 one guarantees a buyer </a:t>
            </a:r>
            <a:pPr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before planting.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answer everyone understands</a:t>
            </a:r>
            <a:endParaRPr lang="en-US" sz="3600" dirty="0"/>
          </a:p>
        </p:txBody>
      </p:sp>
      <p:sp>
        <p:nvSpPr>
          <p:cNvPr id="3" name="good pill"/>
          <p:cNvSpPr/>
          <p:nvPr/>
        </p:nvSpPr>
        <p:spPr>
          <a:xfrm>
            <a:off x="3017520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  GOOD</a:t>
            </a:r>
            <a:endParaRPr lang="en-US" sz="1600" dirty="0"/>
          </a:p>
        </p:txBody>
      </p:sp>
      <p:sp>
        <p:nvSpPr>
          <p:cNvPr id="4" name="careful pill"/>
          <p:cNvSpPr/>
          <p:nvPr/>
        </p:nvSpPr>
        <p:spPr>
          <a:xfrm>
            <a:off x="5953658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  CAREFUL</a:t>
            </a:r>
            <a:endParaRPr lang="en-US" sz="1600" dirty="0"/>
          </a:p>
        </p:txBody>
      </p:sp>
      <p:sp>
        <p:nvSpPr>
          <p:cNvPr id="5" name="avoid pill"/>
          <p:cNvSpPr/>
          <p:nvPr/>
        </p:nvSpPr>
        <p:spPr>
          <a:xfrm>
            <a:off x="8889797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✕  AVOID</a:t>
            </a:r>
            <a:endParaRPr lang="en-US" sz="1600" dirty="0"/>
          </a:p>
        </p:txBody>
      </p:sp>
      <p:sp>
        <p:nvSpPr>
          <p:cNvPr id="6" name="What to plant circle"/>
          <p:cNvSpPr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What to plan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591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plant</a:t>
            </a:r>
            <a:endParaRPr lang="en-US" sz="1700" dirty="0"/>
          </a:p>
        </p:txBody>
      </p:sp>
      <p:sp>
        <p:nvSpPr>
          <p:cNvPr id="9" name="What to plant 0"/>
          <p:cNvSpPr/>
          <p:nvPr/>
        </p:nvSpPr>
        <p:spPr>
          <a:xfrm>
            <a:off x="3017520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00400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Little competition, buyer waiting</a:t>
            </a:r>
            <a:endParaRPr lang="en-US" sz="1500" dirty="0"/>
          </a:p>
        </p:txBody>
      </p:sp>
      <p:sp>
        <p:nvSpPr>
          <p:cNvPr id="11" name="What to plant 1"/>
          <p:cNvSpPr/>
          <p:nvPr/>
        </p:nvSpPr>
        <p:spPr>
          <a:xfrm>
            <a:off x="5953658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36538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Many kafos planting</a:t>
            </a:r>
            <a:endParaRPr lang="en-US" sz="1500" dirty="0"/>
          </a:p>
        </p:txBody>
      </p:sp>
      <p:sp>
        <p:nvSpPr>
          <p:cNvPr id="13" name="What to plant 2"/>
          <p:cNvSpPr/>
          <p:nvPr/>
        </p:nvSpPr>
        <p:spPr>
          <a:xfrm>
            <a:off x="8889797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072677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Glut coming</a:t>
            </a:r>
            <a:endParaRPr lang="en-US" sz="1500" dirty="0"/>
          </a:p>
        </p:txBody>
      </p:sp>
      <p:sp>
        <p:nvSpPr>
          <p:cNvPr id="15" name="Where to sell circle"/>
          <p:cNvSpPr/>
          <p:nvPr/>
        </p:nvSpPr>
        <p:spPr>
          <a:xfrm>
            <a:off x="548640" y="31363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Where to se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7355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0160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Where to sell</a:t>
            </a:r>
            <a:endParaRPr lang="en-US" sz="1700" dirty="0"/>
          </a:p>
        </p:txBody>
      </p:sp>
      <p:sp>
        <p:nvSpPr>
          <p:cNvPr id="18" name="Where to sell 0"/>
          <p:cNvSpPr/>
          <p:nvPr/>
        </p:nvSpPr>
        <p:spPr>
          <a:xfrm>
            <a:off x="3017520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200400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Good price or confirmed buyer</a:t>
            </a:r>
            <a:endParaRPr lang="en-US" sz="1500" dirty="0"/>
          </a:p>
        </p:txBody>
      </p:sp>
      <p:sp>
        <p:nvSpPr>
          <p:cNvPr id="20" name="Where to sell 1"/>
          <p:cNvSpPr/>
          <p:nvPr/>
        </p:nvSpPr>
        <p:spPr>
          <a:xfrm>
            <a:off x="5953658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136538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Average — compare or wait</a:t>
            </a:r>
            <a:endParaRPr lang="en-US" sz="1500" dirty="0"/>
          </a:p>
        </p:txBody>
      </p:sp>
      <p:sp>
        <p:nvSpPr>
          <p:cNvPr id="22" name="Where to sell 2"/>
          <p:cNvSpPr/>
          <p:nvPr/>
        </p:nvSpPr>
        <p:spPr>
          <a:xfrm>
            <a:off x="8889797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072677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Price crash, don't travel</a:t>
            </a:r>
            <a:endParaRPr lang="en-US" sz="1500" dirty="0"/>
          </a:p>
        </p:txBody>
      </p:sp>
      <p:sp>
        <p:nvSpPr>
          <p:cNvPr id="24" name="Risk alert circle"/>
          <p:cNvSpPr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Risk ale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8795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28016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Risk alert</a:t>
            </a:r>
            <a:endParaRPr lang="en-US" sz="1700" dirty="0"/>
          </a:p>
        </p:txBody>
      </p:sp>
      <p:sp>
        <p:nvSpPr>
          <p:cNvPr id="27" name="Risk alert 0"/>
          <p:cNvSpPr/>
          <p:nvPr/>
        </p:nvSpPr>
        <p:spPr>
          <a:xfrm>
            <a:off x="3017520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3200400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OK</a:t>
            </a:r>
            <a:endParaRPr lang="en-US" sz="1500" dirty="0"/>
          </a:p>
        </p:txBody>
      </p:sp>
      <p:sp>
        <p:nvSpPr>
          <p:cNvPr id="29" name="Risk alert 1"/>
          <p:cNvSpPr/>
          <p:nvPr/>
        </p:nvSpPr>
        <p:spPr>
          <a:xfrm>
            <a:off x="5953658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136538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Watch out</a:t>
            </a:r>
            <a:endParaRPr lang="en-US" sz="1500" dirty="0"/>
          </a:p>
        </p:txBody>
      </p:sp>
      <p:sp>
        <p:nvSpPr>
          <p:cNvPr id="31" name="Risk alert 2"/>
          <p:cNvSpPr/>
          <p:nvPr/>
        </p:nvSpPr>
        <p:spPr>
          <a:xfrm>
            <a:off x="8889797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9072677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 now</a:t>
            </a:r>
            <a:endParaRPr lang="en-US" sz="1500" dirty="0"/>
          </a:p>
        </p:txBody>
      </p:sp>
      <p:sp>
        <p:nvSpPr>
          <p:cNvPr id="33" name="three ways strip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22960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Same answer as</a:t>
            </a:r>
            <a:endParaRPr lang="en-US" sz="1500" dirty="0"/>
          </a:p>
        </p:txBody>
      </p:sp>
      <p:sp>
        <p:nvSpPr>
          <p:cNvPr id="35" name="Colour tile circle"/>
          <p:cNvSpPr/>
          <p:nvPr/>
        </p:nvSpPr>
        <p:spPr>
          <a:xfrm>
            <a:off x="256032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Colour ti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5504688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324612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Colour tile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leader app</a:t>
            </a:r>
            <a:endParaRPr lang="en-US" sz="1500" dirty="0"/>
          </a:p>
        </p:txBody>
      </p:sp>
      <p:sp>
        <p:nvSpPr>
          <p:cNvPr id="38" name="One word circle"/>
          <p:cNvSpPr/>
          <p:nvPr/>
        </p:nvSpPr>
        <p:spPr>
          <a:xfrm>
            <a:off x="557784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One wor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5504688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26364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 word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basic phone</a:t>
            </a:r>
            <a:endParaRPr lang="en-US" sz="1500" dirty="0"/>
          </a:p>
        </p:txBody>
      </p:sp>
      <p:sp>
        <p:nvSpPr>
          <p:cNvPr id="41" name="Spoken sentence circle"/>
          <p:cNvSpPr/>
          <p:nvPr/>
        </p:nvSpPr>
        <p:spPr>
          <a:xfrm>
            <a:off x="859536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Spoken sentenc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5504688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28116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Spoken sentence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voice call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buyer's order comes before planting</a:t>
            </a:r>
            <a:endParaRPr lang="en-US" sz="3600" dirty="0"/>
          </a:p>
        </p:txBody>
      </p:sp>
      <p:sp>
        <p:nvSpPr>
          <p:cNvPr id="3" name="band before planting"/>
          <p:cNvSpPr/>
          <p:nvPr/>
        </p:nvSpPr>
        <p:spPr>
          <a:xfrm>
            <a:off x="457200" y="1417320"/>
            <a:ext cx="5570068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4" name="band growing"/>
          <p:cNvSpPr/>
          <p:nvPr/>
        </p:nvSpPr>
        <p:spPr>
          <a:xfrm>
            <a:off x="6164428" y="1417320"/>
            <a:ext cx="5570068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BEFORE PLANTING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47308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GROWING → HARVEST → PAID</a:t>
            </a:r>
            <a:endParaRPr lang="en-US" sz="1200" dirty="0"/>
          </a:p>
        </p:txBody>
      </p:sp>
      <p:sp>
        <p:nvSpPr>
          <p:cNvPr id="7" name="Buyer posts order circle"/>
          <p:cNvSpPr/>
          <p:nvPr/>
        </p:nvSpPr>
        <p:spPr>
          <a:xfrm>
            <a:off x="859765" y="205740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uyer posts ord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95" y="2297430"/>
            <a:ext cx="480060" cy="480060"/>
          </a:xfrm>
          <a:prstGeom prst="rect">
            <a:avLst/>
          </a:prstGeom>
        </p:spPr>
      </p:pic>
      <p:sp>
        <p:nvSpPr>
          <p:cNvPr id="9" name="step number 1"/>
          <p:cNvSpPr/>
          <p:nvPr/>
        </p:nvSpPr>
        <p:spPr>
          <a:xfrm>
            <a:off x="814045" y="196596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00400"/>
            <a:ext cx="15823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Buyer posts order</a:t>
            </a:r>
            <a:endParaRPr lang="en-US" sz="1500" dirty="0"/>
          </a:p>
        </p:txBody>
      </p:sp>
      <p:sp>
        <p:nvSpPr>
          <p:cNvPr id="11" name="flow arrow 1"/>
          <p:cNvSpPr/>
          <p:nvPr/>
        </p:nvSpPr>
        <p:spPr>
          <a:xfrm>
            <a:off x="1893037" y="2537460"/>
            <a:ext cx="79598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armer asks “what to plant?” circle"/>
          <p:cNvSpPr/>
          <p:nvPr/>
        </p:nvSpPr>
        <p:spPr>
          <a:xfrm>
            <a:off x="2762174" y="2057400"/>
            <a:ext cx="960120" cy="9601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Farmer asks “what to plant?”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204" y="2297430"/>
            <a:ext cx="480060" cy="480060"/>
          </a:xfrm>
          <a:prstGeom prst="rect">
            <a:avLst/>
          </a:prstGeom>
        </p:spPr>
      </p:pic>
      <p:sp>
        <p:nvSpPr>
          <p:cNvPr id="14" name="step number 2"/>
          <p:cNvSpPr/>
          <p:nvPr/>
        </p:nvSpPr>
        <p:spPr>
          <a:xfrm>
            <a:off x="2716454" y="196596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451049" y="3200400"/>
            <a:ext cx="15823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Farmer asks “what to plant?”</a:t>
            </a:r>
            <a:endParaRPr lang="en-US" sz="1500" dirty="0"/>
          </a:p>
        </p:txBody>
      </p:sp>
      <p:sp>
        <p:nvSpPr>
          <p:cNvPr id="16" name="flow arrow 2"/>
          <p:cNvSpPr/>
          <p:nvPr/>
        </p:nvSpPr>
        <p:spPr>
          <a:xfrm>
            <a:off x="3795446" y="2537460"/>
            <a:ext cx="79598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Leader accepts &amp; logs planting circle"/>
          <p:cNvSpPr/>
          <p:nvPr/>
        </p:nvSpPr>
        <p:spPr>
          <a:xfrm>
            <a:off x="4664583" y="2057400"/>
            <a:ext cx="960120" cy="9601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Leader accepts &amp; logs plantin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613" y="2297430"/>
            <a:ext cx="480060" cy="480060"/>
          </a:xfrm>
          <a:prstGeom prst="rect">
            <a:avLst/>
          </a:prstGeom>
        </p:spPr>
      </p:pic>
      <p:sp>
        <p:nvSpPr>
          <p:cNvPr id="19" name="step number 3"/>
          <p:cNvSpPr/>
          <p:nvPr/>
        </p:nvSpPr>
        <p:spPr>
          <a:xfrm>
            <a:off x="4618863" y="196596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353458" y="3200400"/>
            <a:ext cx="15823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Leader accepts &amp; logs planting</a:t>
            </a:r>
            <a:endParaRPr lang="en-US" sz="1500" dirty="0"/>
          </a:p>
        </p:txBody>
      </p:sp>
      <p:sp>
        <p:nvSpPr>
          <p:cNvPr id="21" name="flow arrow 3"/>
          <p:cNvSpPr/>
          <p:nvPr/>
        </p:nvSpPr>
        <p:spPr>
          <a:xfrm>
            <a:off x="5697855" y="2537460"/>
            <a:ext cx="79598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Alerts while growing circle"/>
          <p:cNvSpPr/>
          <p:nvPr/>
        </p:nvSpPr>
        <p:spPr>
          <a:xfrm>
            <a:off x="6566992" y="2057400"/>
            <a:ext cx="960120" cy="9601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Alerts while growin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022" y="2297430"/>
            <a:ext cx="480060" cy="480060"/>
          </a:xfrm>
          <a:prstGeom prst="rect">
            <a:avLst/>
          </a:prstGeom>
        </p:spPr>
      </p:pic>
      <p:sp>
        <p:nvSpPr>
          <p:cNvPr id="24" name="step number 4"/>
          <p:cNvSpPr/>
          <p:nvPr/>
        </p:nvSpPr>
        <p:spPr>
          <a:xfrm>
            <a:off x="6521272" y="196596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255868" y="3200400"/>
            <a:ext cx="15823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Alerts while growing</a:t>
            </a:r>
            <a:endParaRPr lang="en-US" sz="1500" dirty="0"/>
          </a:p>
        </p:txBody>
      </p:sp>
      <p:sp>
        <p:nvSpPr>
          <p:cNvPr id="26" name="flow arrow 4"/>
          <p:cNvSpPr/>
          <p:nvPr/>
        </p:nvSpPr>
        <p:spPr>
          <a:xfrm>
            <a:off x="7600264" y="2537460"/>
            <a:ext cx="79598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Weigh &amp; deliver circle"/>
          <p:cNvSpPr/>
          <p:nvPr/>
        </p:nvSpPr>
        <p:spPr>
          <a:xfrm>
            <a:off x="8469401" y="2057400"/>
            <a:ext cx="960120" cy="9601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Weigh &amp; deliv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431" y="2297430"/>
            <a:ext cx="480060" cy="480060"/>
          </a:xfrm>
          <a:prstGeom prst="rect">
            <a:avLst/>
          </a:prstGeom>
        </p:spPr>
      </p:pic>
      <p:sp>
        <p:nvSpPr>
          <p:cNvPr id="29" name="step number 5"/>
          <p:cNvSpPr/>
          <p:nvPr/>
        </p:nvSpPr>
        <p:spPr>
          <a:xfrm>
            <a:off x="8423681" y="196596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8158277" y="3200400"/>
            <a:ext cx="15823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Weigh &amp; deliver</a:t>
            </a:r>
            <a:endParaRPr lang="en-US" sz="1500" dirty="0"/>
          </a:p>
        </p:txBody>
      </p:sp>
      <p:sp>
        <p:nvSpPr>
          <p:cNvPr id="31" name="flow arrow 5"/>
          <p:cNvSpPr/>
          <p:nvPr/>
        </p:nvSpPr>
        <p:spPr>
          <a:xfrm>
            <a:off x="9502673" y="2537460"/>
            <a:ext cx="79598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Each farmer paid by mobile money circle"/>
          <p:cNvSpPr/>
          <p:nvPr/>
        </p:nvSpPr>
        <p:spPr>
          <a:xfrm>
            <a:off x="10371811" y="2057400"/>
            <a:ext cx="960120" cy="9601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Each farmer paid by mobile mone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1841" y="2297430"/>
            <a:ext cx="480060" cy="480060"/>
          </a:xfrm>
          <a:prstGeom prst="rect">
            <a:avLst/>
          </a:prstGeom>
        </p:spPr>
      </p:pic>
      <p:sp>
        <p:nvSpPr>
          <p:cNvPr id="34" name="step number 6"/>
          <p:cNvSpPr/>
          <p:nvPr/>
        </p:nvSpPr>
        <p:spPr>
          <a:xfrm>
            <a:off x="10326091" y="196596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0060686" y="3200400"/>
            <a:ext cx="15823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farmer paid by mobile money</a:t>
            </a:r>
            <a:endParaRPr lang="en-US" sz="1500" dirty="0"/>
          </a:p>
        </p:txBody>
      </p:sp>
      <p:sp>
        <p:nvSpPr>
          <p:cNvPr id="36" name="key design card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good pill"/>
          <p:cNvSpPr/>
          <p:nvPr/>
        </p:nvSpPr>
        <p:spPr>
          <a:xfrm>
            <a:off x="822960" y="5239512"/>
            <a:ext cx="219456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  Key design choice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3291840" y="4892040"/>
            <a:ext cx="8076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order comes first — so 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“Okra: GOOD, buyer waiting”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is real, and not every kafo plants tomato.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Works on any phone, no internet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pic>
        <p:nvPicPr>
          <p:cNvPr id="4" name="Basic phone: *1234# main menu" descr="Basic phone: *1234# main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288428" cy="4617720"/>
          </a:xfrm>
          <a:prstGeom prst="rect">
            <a:avLst/>
          </a:prstGeom>
        </p:spPr>
      </p:pic>
      <p:pic>
        <p:nvPicPr>
          <p:cNvPr id="5" name="Basic phone: what to plant answer" descr="Basic phone: what to plant answ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08" y="1371600"/>
            <a:ext cx="2288428" cy="4617720"/>
          </a:xfrm>
          <a:prstGeom prst="rect">
            <a:avLst/>
          </a:prstGeom>
        </p:spPr>
      </p:pic>
      <p:pic>
        <p:nvPicPr>
          <p:cNvPr id="6" name="Basic phone: ACT NOW heavy-rain SMS" descr="Basic phone: ACT NOW heavy-rain S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575" y="2240280"/>
            <a:ext cx="1857931" cy="3749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6080760"/>
            <a:ext cx="228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Main menu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3157108" y="6080760"/>
            <a:ext cx="228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 What to plant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765575" y="6080760"/>
            <a:ext cx="18579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SMS alert</a:t>
            </a:r>
            <a:endParaRPr lang="en-US" sz="1100" dirty="0"/>
          </a:p>
        </p:txBody>
      </p:sp>
      <p:sp>
        <p:nvSpPr>
          <p:cNvPr id="10" name="*1234# icon circle"/>
          <p:cNvSpPr/>
          <p:nvPr/>
        </p:nvSpPr>
        <p:spPr>
          <a:xfrm>
            <a:off x="800100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*1234#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7452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778240" y="1719072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*1234#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text menu</a:t>
            </a:r>
            <a:endParaRPr lang="en-US" sz="1500" dirty="0"/>
          </a:p>
        </p:txBody>
      </p:sp>
      <p:sp>
        <p:nvSpPr>
          <p:cNvPr id="13" name="*4321# icon circle"/>
          <p:cNvSpPr/>
          <p:nvPr/>
        </p:nvSpPr>
        <p:spPr>
          <a:xfrm>
            <a:off x="800100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*4321#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20040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78240" y="3044952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*4321#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call-back in her language</a:t>
            </a:r>
            <a:endParaRPr lang="en-US" sz="1500" dirty="0"/>
          </a:p>
        </p:txBody>
      </p:sp>
      <p:sp>
        <p:nvSpPr>
          <p:cNvPr id="16" name="Key word first icon circle"/>
          <p:cNvSpPr/>
          <p:nvPr/>
        </p:nvSpPr>
        <p:spPr>
          <a:xfrm>
            <a:off x="800100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Key word firs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52628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778240" y="4370832"/>
            <a:ext cx="2864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Key word first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message starts with it: GOOD, ACT NOW, PAID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trusted leader decides for 200 women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pic>
        <p:nvPicPr>
          <p:cNvPr id="4" name="Leader app: signal tiles per crop" descr="Leader app: signal tiles per 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381307" cy="4617720"/>
          </a:xfrm>
          <a:prstGeom prst="rect">
            <a:avLst/>
          </a:prstGeom>
        </p:spPr>
      </p:pic>
      <p:pic>
        <p:nvPicPr>
          <p:cNvPr id="5" name="Leader app: hotel order with Accept" descr="Leader app: hotel order with Accep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707" y="2240280"/>
            <a:ext cx="1933338" cy="3749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080760"/>
            <a:ext cx="2381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Home: a tile per crop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3295707" y="6080760"/>
            <a:ext cx="193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Sell: a buyer order</a:t>
            </a:r>
            <a:endParaRPr lang="en-US" sz="1100" dirty="0"/>
          </a:p>
        </p:txBody>
      </p:sp>
      <p:sp>
        <p:nvSpPr>
          <p:cNvPr id="8" name="Colour tiles + crop pictures + ♪ audio icon circle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Colour tiles + crop pictures + ♪ audio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745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86600" y="171907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Colour tiles + crop pictures + ♪ audio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Shape and word on every tile, read aloud on tap</a:t>
            </a:r>
            <a:endParaRPr lang="en-US" sz="1500" dirty="0"/>
          </a:p>
        </p:txBody>
      </p:sp>
      <p:sp>
        <p:nvSpPr>
          <p:cNvPr id="11" name="Logs plantings icon circle"/>
          <p:cNvSpPr/>
          <p:nvPr/>
        </p:nvSpPr>
        <p:spPr>
          <a:xfrm>
            <a:off x="630936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Logs planting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004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86600" y="304495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Logs plantings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Powers the glut warning for every kafo</a:t>
            </a:r>
            <a:endParaRPr lang="en-US" sz="1500" dirty="0"/>
          </a:p>
        </p:txBody>
      </p:sp>
      <p:sp>
        <p:nvSpPr>
          <p:cNvPr id="14" name="Accept buyer orders in one tap icon circle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ccept buyer orders in one ta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52628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86600" y="437083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Accept buyer orders in one tap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Hotel needs 150 kg okra → Accept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Buyers see the harvest before it exists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sp>
        <p:nvSpPr>
          <p:cNvPr id="4" name="Buyer dashboard: harvest outlook browser frame"/>
          <p:cNvSpPr/>
          <p:nvPr/>
        </p:nvSpPr>
        <p:spPr>
          <a:xfrm>
            <a:off x="548640" y="1371600"/>
            <a:ext cx="5715000" cy="4765217"/>
          </a:xfrm>
          <a:prstGeom prst="roundRect">
            <a:avLst>
              <a:gd name="adj" fmla="val 1919"/>
            </a:avLst>
          </a:prstGeom>
          <a:solidFill>
            <a:srgbClr val="E3E8E5"/>
          </a:solidFill>
          <a:ln w="9525">
            <a:solidFill>
              <a:srgbClr val="C9D1C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uyer dashboard: harvest outlook window dots 1"/>
          <p:cNvSpPr/>
          <p:nvPr/>
        </p:nvSpPr>
        <p:spPr>
          <a:xfrm>
            <a:off x="685800" y="146304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Buyer dashboard: harvest outlook window dots 2"/>
          <p:cNvSpPr/>
          <p:nvPr/>
        </p:nvSpPr>
        <p:spPr>
          <a:xfrm>
            <a:off x="859536" y="146304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Buyer dashboard: harvest outlook window dots 3"/>
          <p:cNvSpPr/>
          <p:nvPr/>
        </p:nvSpPr>
        <p:spPr>
          <a:xfrm>
            <a:off x="1033272" y="146304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uyer dashboard: harvest outlook" descr="Buyer dashboard: harvest outl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5715000" cy="447260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228257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Harvest outlook · demo data</a:t>
            </a:r>
            <a:endParaRPr lang="en-US" sz="1100" dirty="0"/>
          </a:p>
        </p:txBody>
      </p:sp>
      <p:pic>
        <p:nvPicPr>
          <p:cNvPr id="10" name="Buyer order card: paid to 3 farmers" descr="Buyer order card: paid to 3 farm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967935" cy="189741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11" name="Farmer phone: PAID SMS" descr="Farmer phone: PAID S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589054"/>
            <a:ext cx="1404777" cy="2834640"/>
          </a:xfrm>
          <a:prstGeom prst="rect">
            <a:avLst/>
          </a:prstGeom>
        </p:spPr>
      </p:pic>
      <p:sp>
        <p:nvSpPr>
          <p:cNvPr id="12" name="Post orders weeks ahead icon circle"/>
          <p:cNvSpPr/>
          <p:nvPr/>
        </p:nvSpPr>
        <p:spPr>
          <a:xfrm>
            <a:off x="8399937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Post orders weeks ahea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237" y="372618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85737" y="3593592"/>
            <a:ext cx="2557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 orders weeks ahead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Harvest outlook by crop icon circle"/>
          <p:cNvSpPr/>
          <p:nvPr/>
        </p:nvSpPr>
        <p:spPr>
          <a:xfrm>
            <a:off x="8399937" y="4434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Harvest outlook by cro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4237" y="454914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085737" y="4416552"/>
            <a:ext cx="2557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Harvest outlook by crop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18" name="Each farmer paid directly, SMS receipt icon circle"/>
          <p:cNvSpPr/>
          <p:nvPr/>
        </p:nvSpPr>
        <p:spPr>
          <a:xfrm>
            <a:off x="8399937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Each farmer paid directly, SMS receip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237" y="537210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085737" y="5239512"/>
            <a:ext cx="25573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Each farmer paid directly, SMS receipt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Who we work with to go live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8625535" y="109728"/>
            <a:ext cx="3017520" cy="329184"/>
          </a:xfrm>
          <a:prstGeom prst="roundRect">
            <a:avLst>
              <a:gd name="adj" fmla="val 5555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Going live · after the hackathon</a:t>
            </a:r>
            <a:endParaRPr lang="en-US" sz="1200" dirty="0"/>
          </a:p>
        </p:txBody>
      </p:sp>
      <p:sp>
        <p:nvSpPr>
          <p:cNvPr id="4" name="Networks &amp; codes card"/>
          <p:cNvSpPr/>
          <p:nvPr/>
        </p:nvSpPr>
        <p:spPr>
          <a:xfrm>
            <a:off x="548640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Networks &amp; codes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Networks &amp; cod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Networks &amp; codes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3172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Africell · QCell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host *1234#, two-way SMS, call-back voice line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PURA (regulator)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licence for the short / USSD code</a:t>
            </a:r>
            <a:endParaRPr lang="en-US" sz="1400" dirty="0"/>
          </a:p>
        </p:txBody>
      </p:sp>
      <p:sp>
        <p:nvSpPr>
          <p:cNvPr id="9" name="Mobile-money payouts card"/>
          <p:cNvSpPr/>
          <p:nvPr/>
        </p:nvSpPr>
        <p:spPr>
          <a:xfrm>
            <a:off x="6233008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Mobile-money payouts circle"/>
          <p:cNvSpPr/>
          <p:nvPr/>
        </p:nvSpPr>
        <p:spPr>
          <a:xfrm>
            <a:off x="6507328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bile-money payou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8848" y="169164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Mobile-money payouts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238848" y="233172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Wave Payout API · Modem Pay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pay each farmer directly by phone number, batch payouts</a:t>
            </a:r>
            <a:endParaRPr lang="en-US" sz="1400" dirty="0"/>
          </a:p>
        </p:txBody>
      </p:sp>
      <p:sp>
        <p:nvSpPr>
          <p:cNvPr id="14" name="Prices &amp; weather card"/>
          <p:cNvSpPr/>
          <p:nvPr/>
        </p:nvSpPr>
        <p:spPr>
          <a:xfrm>
            <a:off x="548640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Prices &amp; weather circle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rices &amp; weath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89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Prices &amp; weather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89204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Marché Kibaroo / MoALFS Planning · DWR · Open-Meteo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market prices, dekadal agromet bulletins, 7-day forecast</a:t>
            </a:r>
            <a:endParaRPr lang="en-US" sz="1400" dirty="0"/>
          </a:p>
        </p:txBody>
      </p:sp>
      <p:sp>
        <p:nvSpPr>
          <p:cNvPr id="19" name="Buyers, reach &amp; trust card"/>
          <p:cNvSpPr/>
          <p:nvPr/>
        </p:nvSpPr>
        <p:spPr>
          <a:xfrm>
            <a:off x="6233008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Buyers, reach &amp; trust circle"/>
          <p:cNvSpPr/>
          <p:nvPr/>
        </p:nvSpPr>
        <p:spPr>
          <a:xfrm>
            <a:off x="6507328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Buyers, reach &amp; tru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8" y="4389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Buyers, reach &amp; trust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238848" y="489204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Gambia Hotel Association · WFP Home-Grown School Feeding · ITC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committed pre-harvest orders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Dept. of Agriculture extension · NACOFAG · ROOTS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kafo sign-up, leader training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From demo to pilot in 3 steps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8625535" y="109728"/>
            <a:ext cx="3017520" cy="329184"/>
          </a:xfrm>
          <a:prstGeom prst="roundRect">
            <a:avLst>
              <a:gd name="adj" fmla="val 5555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Going live · after the hackathon</a:t>
            </a:r>
            <a:endParaRPr lang="en-US" sz="1200" dirty="0"/>
          </a:p>
        </p:txBody>
      </p:sp>
      <p:sp>
        <p:nvSpPr>
          <p:cNvPr id="4" name="timeline line"/>
          <p:cNvSpPr/>
          <p:nvPr/>
        </p:nvSpPr>
        <p:spPr>
          <a:xfrm>
            <a:off x="868680" y="1828800"/>
            <a:ext cx="4678680" cy="0"/>
          </a:xfrm>
          <a:prstGeom prst="line">
            <a:avLst/>
          </a:prstGeom>
          <a:noFill/>
          <a:ln w="38100">
            <a:solidFill>
              <a:srgbClr val="C9D1CD"/>
            </a:solidFill>
            <a:prstDash val="solid"/>
          </a:ln>
        </p:spPr>
      </p:sp>
      <p:sp>
        <p:nvSpPr>
          <p:cNvPr id="5" name="phase dot 1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Now — Demo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On-screen USSD/SMS simulator, mock payments.</a:t>
            </a:r>
            <a:endParaRPr lang="en-US" sz="1500" dirty="0"/>
          </a:p>
        </p:txBody>
      </p:sp>
      <p:sp>
        <p:nvSpPr>
          <p:cNvPr id="9" name="phase cost"/>
          <p:cNvSpPr/>
          <p:nvPr/>
        </p:nvSpPr>
        <p:spPr>
          <a:xfrm>
            <a:off x="548640" y="4572000"/>
            <a:ext cx="12801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Cost: D0</a:t>
            </a:r>
            <a:endParaRPr lang="en-US" sz="1400" dirty="0"/>
          </a:p>
        </p:txBody>
      </p:sp>
      <p:sp>
        <p:nvSpPr>
          <p:cNvPr id="10" name="phase dot 2"/>
          <p:cNvSpPr/>
          <p:nvPr/>
        </p:nvSpPr>
        <p:spPr>
          <a:xfrm>
            <a:off x="3048000" y="150876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480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48000" y="237744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Pilot — 3 kafos in Brikama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48000" y="310896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Outbound SMS via gateway · call-back voice via operator partner · real payouts via Modem Pay / Wave sandbox → live</a:t>
            </a:r>
            <a:endParaRPr lang="en-US" sz="1500" dirty="0"/>
          </a:p>
        </p:txBody>
      </p:sp>
      <p:sp>
        <p:nvSpPr>
          <p:cNvPr id="14" name="phase dot 3"/>
          <p:cNvSpPr/>
          <p:nvPr/>
        </p:nvSpPr>
        <p:spPr>
          <a:xfrm>
            <a:off x="5547360" y="1508760"/>
            <a:ext cx="640080" cy="6400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473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547360" y="237744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Launch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547360" y="310896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Own USSD code on Africell + QCell · Marché Kibaroo price feed · buyers onboarded</a:t>
            </a:r>
            <a:endParaRPr lang="en-US" sz="1500" dirty="0"/>
          </a:p>
        </p:txBody>
      </p:sp>
      <p:sp>
        <p:nvSpPr>
          <p:cNvPr id="18" name="cost box"/>
          <p:cNvSpPr/>
          <p:nvPr/>
        </p:nvSpPr>
        <p:spPr>
          <a:xfrm>
            <a:off x="8183880" y="1417320"/>
            <a:ext cx="3459175" cy="4206240"/>
          </a:xfrm>
          <a:prstGeom prst="roundRect">
            <a:avLst>
              <a:gd name="adj" fmla="val 3172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1600200"/>
            <a:ext cx="2910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Year 1 cost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PURA fees only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2423160"/>
            <a:ext cx="1813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USSD code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D10,000 + D25,000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180015" y="2423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D35,000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246120"/>
            <a:ext cx="1813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toll-free voice number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D5,000 + D7,500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180015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D12,500</a:t>
            </a:r>
            <a:endParaRPr lang="en-US" sz="1600" dirty="0"/>
          </a:p>
        </p:txBody>
      </p:sp>
      <p:sp>
        <p:nvSpPr>
          <p:cNvPr id="24" name="cost divider"/>
          <p:cNvSpPr/>
          <p:nvPr/>
        </p:nvSpPr>
        <p:spPr>
          <a:xfrm>
            <a:off x="8458200" y="4069080"/>
            <a:ext cx="2910535" cy="0"/>
          </a:xfrm>
          <a:prstGeom prst="line">
            <a:avLst/>
          </a:prstGeom>
          <a:noFill/>
          <a:ln w="12700">
            <a:solidFill>
              <a:srgbClr val="C9D1C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4206240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Total ≈ D47,500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4754880"/>
            <a:ext cx="2910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before operator revenue share — or apply for the social-service fee exemption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Free for farmers. Paid by sales</a:t>
            </a:r>
            <a:endParaRPr lang="en-US" sz="4000" dirty="0"/>
          </a:p>
        </p:txBody>
      </p:sp>
      <p:sp>
        <p:nvSpPr>
          <p:cNvPr id="3" name="traffic light dots 1"/>
          <p:cNvSpPr/>
          <p:nvPr/>
        </p:nvSpPr>
        <p:spPr>
          <a:xfrm>
            <a:off x="10545775" y="65836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raffic light dots 2"/>
          <p:cNvSpPr/>
          <p:nvPr/>
        </p:nvSpPr>
        <p:spPr>
          <a:xfrm>
            <a:off x="10948111" y="65836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raffic light dots 3"/>
          <p:cNvSpPr/>
          <p:nvPr/>
        </p:nvSpPr>
        <p:spPr>
          <a:xfrm>
            <a:off x="11350447" y="65836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losing card"/>
          <p:cNvSpPr/>
          <p:nvPr/>
        </p:nvSpPr>
        <p:spPr>
          <a:xfrm>
            <a:off x="548640" y="1508760"/>
            <a:ext cx="5410048" cy="3108960"/>
          </a:xfrm>
          <a:prstGeom prst="roundRect">
            <a:avLst>
              <a:gd name="adj" fmla="val 3529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7" name="closing card"/>
          <p:cNvSpPr/>
          <p:nvPr/>
        </p:nvSpPr>
        <p:spPr>
          <a:xfrm>
            <a:off x="6233008" y="1508760"/>
            <a:ext cx="5410048" cy="3108960"/>
          </a:xfrm>
          <a:prstGeom prst="roundRect">
            <a:avLst>
              <a:gd name="adj" fmla="val 3529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8" name="business model circle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business mod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178308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606040"/>
            <a:ext cx="4769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Buyers pay ~2–3% on each completed order.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Farmer-paid models failed elsewhere (Esoko); business- and sale-funded ones survived.</a:t>
            </a:r>
            <a:endParaRPr lang="en-US" sz="1600" dirty="0"/>
          </a:p>
        </p:txBody>
      </p:sp>
      <p:sp>
        <p:nvSpPr>
          <p:cNvPr id="12" name="trust circle"/>
          <p:cNvSpPr/>
          <p:nvPr/>
        </p:nvSpPr>
        <p:spPr>
          <a:xfrm>
            <a:off x="6553048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trus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9202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8308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Trust built in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53048" y="2606040"/>
            <a:ext cx="4769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Verified leaders &amp; buyers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Every answer shows its reason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Each farmer paid directly, with SMS receipt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Buyers can't cancel after planting</a:t>
            </a:r>
            <a:endParaRPr lang="en-US" sz="1600" dirty="0"/>
          </a:p>
        </p:txBody>
      </p:sp>
      <p:sp>
        <p:nvSpPr>
          <p:cNvPr id="16" name="ask strip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17" name="ask pill"/>
          <p:cNvSpPr/>
          <p:nvPr/>
        </p:nvSpPr>
        <p:spPr>
          <a:xfrm>
            <a:off x="822960" y="5413248"/>
            <a:ext cx="137160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Our ask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2423160" y="5120640"/>
            <a:ext cx="9037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Pilot with 3 kafos in Brikama · Intro to Africell &amp; QCell · PURA social-service exemption · Marché Kibaroo price feed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Appendix: facts we checked</a:t>
            </a:r>
            <a:endParaRPr lang="en-US" sz="3600" dirty="0"/>
          </a:p>
        </p:txBody>
      </p:sp>
      <p:graphicFrame>
        <p:nvGraphicFramePr>
          <p:cNvPr id="13" name="fa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480560"/>
                <a:gridCol w="304769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Extension workers to farmers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: 3,000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DG of Agriculture, May 2025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Farm households with market information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22.1%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Agricultural Census 2011/12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Vegetables lost after harvest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Up to half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AfDB via AllAfrica, Jun 2026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Adult literacy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58.7% · women 47% vs men 67%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Team research report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PURA short / USSD code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D10,000 + D25,000/yr; social-service exempt from annual fees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PURA Unified Fees Regulations 2026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PURA toll-free number · VAS licence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D5,000 + D7,500/yr · D75,000 + US$10,000 (5 yrs)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PURA Unified Fees Regulations 2026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International SMS gateways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€0.032–0.10 per SMS; no two-way SMS or short codes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budgetsms.net · sent.dm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Africa's Talking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Gambia not listed → simulator only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help.africastalking.com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Marché Kibaroo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29 markets · English + 5 local languages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marchekibaroo.org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WFP school feeding (2025)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167,105 children in 422 schools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WFP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Wave agents in Gambia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1,900+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Taptap Send help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Phone numbers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 digits for Africell/QCell/Comium since 4 Sep 2026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Twilio · osiris.sn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fo Signal">
  <a:themeElements>
    <a:clrScheme name="Kafo Signal">
      <a:dk1>
        <a:srgbClr val="1B1B1B"/>
      </a:dk1>
      <a:lt1>
        <a:srgbClr val="FFFFFF"/>
      </a:lt1>
      <a:dk2>
        <a:srgbClr val="14402F"/>
      </a:dk2>
      <a:lt2>
        <a:srgbClr val="F1F5F2"/>
      </a:lt2>
      <a:accent1>
        <a:srgbClr val="2E9E4F"/>
      </a:accent1>
      <a:accent2>
        <a:srgbClr val="F2B705"/>
      </a:accent2>
      <a:accent3>
        <a:srgbClr val="D93B30"/>
      </a:accent3>
      <a:accent4>
        <a:srgbClr val="5F6B66"/>
      </a:accent4>
      <a:accent5>
        <a:srgbClr val="14402F"/>
      </a:accent5>
      <a:accent6>
        <a:srgbClr val="2E9E4F"/>
      </a:accent6>
      <a:hlink>
        <a:srgbClr val="2E9E4F"/>
      </a:hlink>
      <a:folHlink>
        <a:srgbClr val="5F6B66"/>
      </a:folHlink>
    </a:clrScheme>
    <a:fontScheme name="Kafo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Kafo Signal</dc:title>
  <dc:subject>PptxGenJS Presentation</dc:subject>
  <dc:creator>[TEAM NAME]</dc:creator>
  <cp:lastModifiedBy>[TEAM NAME]</cp:lastModifiedBy>
  <cp:revision>1</cp:revision>
  <dcterms:created xsi:type="dcterms:W3CDTF">2026-10-21T01:00:56Z</dcterms:created>
  <dcterms:modified xsi:type="dcterms:W3CDTF">2026-10-21T01:00:56Z</dcterms:modified>
</cp:coreProperties>
</file>