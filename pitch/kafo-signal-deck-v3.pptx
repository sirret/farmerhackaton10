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9249ceb-8026-5062-5f02-66d7c595e067}">
          <p14:sldIdLst>
            <p14:sldId id="256"/>
          </p14:sldIdLst>
        </p14:section>
        <p14:section name="Problem" id="{c261047c-730e-8f4f-5288-72ef4f23f58a}">
          <p14:sldIdLst>
            <p14:sldId id="257"/>
            <p14:sldId id="258"/>
          </p14:sldIdLst>
        </p14:section>
        <p14:section name="Solution" id="{34a7bfab-974b-4841-90d7-f7c0e02f6c34}">
          <p14:sldIdLst>
            <p14:sldId id="259"/>
            <p14:sldId id="260"/>
            <p14:sldId id="261"/>
          </p14:sldIdLst>
        </p14:section>
        <p14:section name="Live demo" id="{3825b5ab-0553-7c09-c314-e006a9a57185}">
          <p14:sldIdLst>
            <p14:sldId id="262"/>
          </p14:sldIdLst>
        </p14:section>
        <p14:section name="Demo backup" id="{82faa41e-7962-7c77-0b9e-47b355494a20}">
          <p14:sldIdLst>
            <p14:sldId id="263"/>
            <p14:sldId id="264"/>
            <p14:sldId id="265"/>
          </p14:sldIdLst>
        </p14:section>
        <p14:section name="Technology" id="{e66ffdfe-456f-9a9c-a9eb-09033cc7086a}">
          <p14:sldIdLst>
            <p14:sldId id="266"/>
          </p14:sldIdLst>
        </p14:section>
        <p14:section name="Going live" id="{62d68cfd-f830-421a-3029-c7fc61921ea8}">
          <p14:sldIdLst>
            <p14:sldId id="267"/>
            <p14:sldId id="268"/>
          </p14:sldIdLst>
        </p14:section>
        <p14:section name="Close" id="{2509fb9e-2645-e15a-a07c-bc651e217a6f}">
          <p14:sldIdLst>
            <p14:sldId id="269"/>
          </p14:sldIdLst>
        </p14:section>
        <p14:section name="Appendix" id="{c5055b20-0bd6-005c-ab41-875d6b594857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hook (15 s): "Every dry season, women in The Gambia's garden groups all plant tomato, the price collapses, and the crop rots. They don't need more information. They need a clear answer and a buyer. That's Kafo Signal."
One-line pitch: The Gambia already has price and advice services. What's missing is the step from information to a decision, and from a decision to a buyer who pays.
Timing (7-minute slot):slides 1–6 in 2:30 · live demo 2:30 · slides 10–13 in 2:00. Slides 7–9 only if the live demo fails.
Team: Linear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Fatou is a composite persona built from our research, not a real person. Saruja garden: 200+ women, ~4 beds each, no storage or transport (Gambiana 2020). ROOTS is upgrading 40 gardens and building 30 new ones, so the number of kafos is growing.
Stat strip: 6,600 women in 33 NEMA community gardens (IISD/IFAD); women's literacy 47% vs men 67%; phone ownership 76% of women vs 86% of men (team research report).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76% of farmers lose part of their harvest every year. The 50% loss figure is regional (Gambia + Sub-Saharan Africa), so say it that way. No storage means vegetables must sell within days, which kills bargaining power at glut time.
Onion example: DUBAWA, July 2026 (via our research report). Sources for the cards: 1:3,000 extension ratio (DG of Agriculture, May 2025); 22.1% market-information access (Agricultural Census 2011/12); "up to half" lost (AfDB via AllAfrica, Jun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plug into these services, we don't compete: Marché Kibaroo prices are a data source for us. All are donor-funded; ROOTS ends ~2027, so a buyer-funded model matters.
Evidence: Courtois &amp; Subervie (Ghana/Esoko): about +10% maize, +7% groundnut. Mozambique (Zant 2024): producer prices fell 8–14% while traders gained. Esoko stopped selling farmer-paid price services in 2016 after heavy losses. Services that scaled went through USSD/operator channels (MLouma, Viamo). Women's uptake rose when reached through their groups (DigiFarm: 10% → 48%).
Our improvement is turning information into a decision AND a guaranteed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suits farmers who can't read: colour + shape + one word + a spoken sentence, so it still works in black and white, for colour-blind users, and by ear.
How each answer is decided (rules, no AI; every answer carries its reason, e.g. "Avoid tomato: 14 kafos are already growing it"):
- Plant: expected supply ÷ buyer demand — below 0.8 GOOD, 0.8–1.3 CAREFUL, above 1.3 AVOID.
- Sell: (market price − transport) vs the 4-week average; a confirmed order is always GOOD; prices older than 14 days are hidden ("no recent price").
- Risk: an official alert issued by the admin — e.g. from a DWR bulletin, or from the Open-Meteo 7-day forecast cached in the app, which offers to pre-fill a heavy-rain alert for any day with ≥ 30 mm — or ≥ 3 pest reports from the area within 7 days. Farmer reports alone reach only CAREFUL; ACT NOW needs a leader-confirmed report or an official alert. Alerts count from up to 7 days before they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comes first: that's what lets us say "okra is GOOD, a buyer is waiting" and stops every kafo planting tomato.
Proof it works: the Jahaur women's group supplies school meals weekly — "We know we have a buyer before we even plant" (Kumba Jallow, GAFSP, Mar 2026). WFP Home-Grown School Feeding fed 164,194 children in 422 schools in 2025/26 using local suppliers. Hotels met farmers at an ITC / Gambia Hotel Association matchmaking event in early 2026. Demand exists; the problem is coordination.
Next: switch 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(~2:30) on https://sirret.github.io/FarmerHackaton10/ — start with Admin → Demo → Reset demo.
1. Buyer (Coastal Hotel) posts the okra order (Post order tab).
2. Farmer phone: dial *1234#, press 1 → Tomato: DON'T PLANT · Okra: GOOD-buyer waiting.
3. Leader app (Fatou): Sell → Accept 150 kg; Plant → log okra beds for the order.
4. Admin → Demo → Trigger heavy rain in Brikama → ACT NOW SMS (+ call farmers with alert).
5. Leader records the weighed delivery (step log: weighed → sent with proof photo → handed over with a 4-digit buyer code); buyer checks the kg, confirms and pays (mock) → farmer gets "PAID: 38kg okra…".
Optional if time allows: the leader's "Expected cash" before accepting (150 kg × D105/kg); the buyer's live forecast (expected kg, harvest date, "may be short"); example history of paid orders, one on the road, one waiting for payment.
If the live demo fails (e.g. no Wi-Fi): skip to slides 7–9, which show the same story as screenshots.
Everything here runs in our own on-page simulator; nothing is connected to an operator, PURA or a payment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own on-page phone simulator. Africa's Talking is not live in Gambia. USSD runs on 2G with no data bundle. Voice uses pre-recorded clips because speech tech barely supports Mandinka.
Screens (Awa, Brikama kafo): left, the *1234# main menu; middle, "1 What to plant" — Tomato: DON'T PLANT, Onion: CAREFUL, Pepper: GOOD TO PLANT, Okra: GOOD-buyer waiting (scrolled one line so the okra answer is complete); right, the ACT NOW heavy-rain SMS. The network name on the drawn phone is part of the drawing — the demo is not connected to any operator. *1234# / *4321# are placeholder codes until PURA assigns real ones.
UX numbers (checked on our seed data with src/lib/ussd.js, all 100 reachable screens for a farmer, also with an active heavy-rain alert): planting advice and alerts are 1 key press from the main menu, the best market 2 (pick the crop); the longest screen is the 128-character main menu, inside the 182-character USSD limit. The longest flow ("I have produce": crop, amount, when, confirm) takes 4 presses.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 women is sourced: ~6,600 women across 33 gardens ≈ 200 per garden.
New in the prototype: before accepting, the leader sees the expected cash for the order (the hotel's okra order is 150 kg at D105/kg, the market average). Every order then has a step log: accepted → farmers assigned → growing → ready → harvested → weighed → sent with a proof photo → handed over with a 4-digit buyer code → buyer checks the kg → farmers paid. Losses are tracked too (field losses, a smaller harvest, rejected kg).
Note: these screenshots were taken with earlier demo prices, so do not read the prices in them aloud. Current demo data: the okra order is 150 kg at D105/kg; pepper sells best in Banjul (D448/kg after transport), OK in Sukuta/Serekunda, avoid Brikama.
Only verified leaders record plantings and accept orders, so one wrong entry can't mislead every kafo.
Screens (Fatou, Brikama Women's Kafo): tomato ✕ Don't plant, onion ! Careful, pepper and okra ✓ Good to plant (okra: "A buyer is waiting"). The signal tiles are on the app's Home tab (the Plant tab is where plantings are logged). Right: the Sell tab with the Coastal Hotel (demo) order for 150 kg okra and Accept 150 kg. All names, prices and orders are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Buyers pay at collection or within 48h; late payers lose their rating. Buyers see the kafo, never individual farmers' names or numbers.
Screens: the buyer website for Coastal Hotel (demo) — Harvest outlook (expected kg per week per crop, next 8 weeks, from leaders' planting logs). Top right: the 150 kg okra order after delivery — stage Paid, each of the 3 farmers paid directly. Bottom: Awa's phone gets her "PAID: 38kg okra delivered" SMS. (These two screenshots were taken with an earlier demo price; the current demo order is 150 kg at D105/kg = D15,750, so don't quote the amounts shown in the pictures.)
New in the prototype: buyers see a live forecast for each order (expected kg, harvest date, "may be short" warning) and the kafo leader's contact. Each order has a step log: accepted → farmers assigned → growing → ready → harvested → weighed → sent with a proof photo → handed over with a 4-digit buyer code → buyer checks the kg → farmers paid. The platform already has example history: paid orders, an order on the road and one waiting for payment.
Payments are mocked — Wave/QMoney/Afrimoney are labels only; nothing is connected to a payment provider. Prices are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it happens in the repo (so anyone can answer "show us"):
- Framework: Astro (static output) + Tailwind CSS v4 + Preact islands. Hosting: GitHub Pages via GitHub Actions (.github/workflows/deploy.yml), base path /FarmerHackaton10. `npm run dev` runs locally with no server or backend (only Google Fonts need internet; offline it falls back to system fonts).
- Rules engine: src/lib/rules.js — pure functions plantSignal / sellSignal / riskSignal. Thresholds in src/data/seed/config.json: plant_green_below 0.8, plant_red_above 1.3; sell compares price minus transport with the 4-week average (price_avg_weeks 4; sell_green_above 1.05, sell_red_below 0.9); prices older than 14 days → "no recent price"; report_count 3 within report_window_days 7; unverified reports only reach yellow; red needs a leader-verified report or an admin alert. src/lib/render.js: render(signal, 'tile' | 'ussd' | 'voice') turns one signal into a colour tile, a USSD word or a voice-clip chain.
- Weather: risk is NOT computed directly from the forecast. `npm run weather` (scripts/fetch-weather.mjs) calls https://api.open-meteo.com/v1/forecast with daily=precipitation_sum,temperature_2m_max, forecast_days=7, timezone Africa/Banjul, for Brikama and Gunjur, and caches it in src/data/weather.json. The admin Alerts tab shows it and offers to pre-fill a heavy-rain alert for any day ≥ 30 mm; the admin's alert (from a template) drives the risk signal (counted from up to 7 days before it starts).
- Database: Dexie (IndexedDB) in the browser, not sql.js — schema in src/lib/db.js; seed JSON in src/data/seed/*.json; every write goes through src/lib/actions.js; changes sync live across browser tabs.
- Phone simulator: our own components src/components/farmer/BasicPhone.jsx + FarmerSim.jsx. The USSD menu is data (src/data/ussd/menu.json) run by the state machine src/lib/ussd.js. Voice line *4321#: src/lib/ivr.js + src/data/ivr/flow.json, clips played by src/lib/audio.js from public/audio/&lt;lang&gt;/ (10 Mandinka recordings in public/audio/mnk/ today; unrecorded clips fall back to subtitles + English speech). SMS are simulated rows in the browser database (src/lib/notify.js). Payments are mocked (Wave/QMoney/Afrimoney labels only).
- Tests: Vitest, 137 tests in tests/*.test.js, including a step-by-step run of the demo story.
USSD limits we design for: 182 characters per screen, input timeout ~20–60 s, whole session ~180–300 s, so every answer arrives in under 60 s. Going live, each key press reaches our server with the session ID and we reply CON (more) or END (done).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world only — none of these are used in the demo. The demo uses our own on-page phone simulator. Africa's Talking is not live in Gambia.
International SMS providers (BudgetSMS, SMS.to, Infobip) can send one-way alerts to Gambia today for roughly €0.03–0.10 per SMS, but they do not support two-way SMS or short codes in Gambia — so the USSD menu must go through Africell/QCell (or a licensed local value-added-service partner).
Terms: Africell/QCell revenue share is not public, to negotiate. PURA: D10,000 application + D25,000/yr per code; toll-free number D5,000 + D7,500/yr; social-service numbers can be exempt from annual fees. Wave enables payouts per business after a compliance check; Modem Pay is one API for Wave, QMoney, Afrimoney. Open-Meteo is free. Buyers: fee per completed order. Reach &amp; trust: partnership.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are our own goals for the pilot, not results. Growth path: ROOTS-supported gardens (40 upgraded + 30 new) → more kafos with no new tech.
Cost-saving option: use ONE code (*1234#, with "6 = Call me") instead of two, which halves code fees. Alternatives to a full PURA licence: (a) run under an operator's existing code as a partner service, (b) partner with a licensed value-added-service provider (a VAS licence itself is D75,000 + US$10,000 for 5 years — too big for us now). Check with PURA that the 2026 fee regulations are in force (they start on a date the Minister gazettes).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example (demo prices): one 150 kg okra order at D105/kg (the market average) pays D15,750 to 3 farmers; at the prototype's 2.5% fee the buyer pays D394 on top.
Honest maths: to cover the year-1 PURA fees (D47,500) from a 2.5% fee alone takes about D1.9M of orders (≈120 orders this size). So pilot year 1 needs a partner or grant (ROOTS, ITC, WFP) and the fee covers costs as volume grows.
Close: "She didn't get more data. She got an answer, a buyer, and her money on her phone."
(Data privacy if asked: consent at sign-up under the Personal Data Protection and Privacy Act 2025; buyers see the kafo, never individual farmers.)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(guide v2, Section 9):
- 6,600 women / 33 gardens: https://sdg.iisd.org/commentary/guest-articles/the-women-transforming-the-rural-gambia-through-horticulture/
- Jahaur quote: https://www.gafspfund.org/news/gambia-turning-post-harvest-losses-value-jahaur-village
- School feeding "the buyer is known": https://allafrica.com/stories/202607020008.html
- Onion price gap: DUBAWA, Jul 2026 (via team research report)
- Evidence on existing approaches (via team research report): Courtois &amp; Subervie 2015 · Nyarko et al. · Zant 2024 · Esoko (ICTworks, OD Impact) · MLouma (Orange Developer) · Viamo Mali (ILO 2026) · DigiFarm (Mercy Corps)
- WFP Gambia: https://docs.wfp.org/api/documents/WFP-0000172828/download
- Hotel Association matchmaking: https://academicnewsletter.sufe.edu.cn/info/461856 · tourism season +15% forecast: https://allafrica.com/stories/202610120552.html
- PURA fees: https://pura.gm/wp-content/uploads/2026/04/PURA-Unified-Fees-Regulations-2026.pdf
- SMS prices: https://budgetsms.net/sms-gateway-pricing/gm/gambia · no two-way SMS/short codes: https://www.sent.dm/en/resources/sms-compliance/gambia-sms-guide
- USSD limits and CON/END flow: https://helloduty.com/blogs/the-comprehensive-guide-to-understanding-and-building-ussd-applications
- Africa's Talking countries: https://help.africastalking.com/en/articles/2727792-which-countries-are-africa-s-talking-products-in
- 9-digit numbers: https://static0.twilio.com/en-us/guidelines/gm/sms
- Payments: https://providers.apievangelist.com/providers/wave-mobile-money/ · https://vc4a.com/ventures/modem-pay-limited · https://www.africell.com/?p=939
- Problem stats: team research report and challenge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44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rgbClr val="144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686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Kafo Signal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From farm information to a decision, and a buyer who pays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760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UTG ITCA Hackathon 2026 · Challenge 02  ·  Linear Growth</a:t>
            </a:r>
            <a:endParaRPr lang="en-US" sz="1200" dirty="0"/>
          </a:p>
        </p:txBody>
      </p:sp>
      <p:sp>
        <p:nvSpPr>
          <p:cNvPr id="5" name="traffic light housing"/>
          <p:cNvSpPr/>
          <p:nvPr/>
        </p:nvSpPr>
        <p:spPr>
          <a:xfrm>
            <a:off x="9235440" y="822960"/>
            <a:ext cx="1737360" cy="5212080"/>
          </a:xfrm>
          <a:prstGeom prst="roundRect">
            <a:avLst>
              <a:gd name="adj" fmla="val 21053"/>
            </a:avLst>
          </a:prstGeom>
          <a:solidFill>
            <a:schemeClr val="tx1"/>
          </a:solidFill>
          <a:ln/>
        </p:spPr>
      </p:sp>
      <p:sp>
        <p:nvSpPr>
          <p:cNvPr id="6" name="light avoid"/>
          <p:cNvSpPr/>
          <p:nvPr/>
        </p:nvSpPr>
        <p:spPr>
          <a:xfrm>
            <a:off x="9464040" y="1143000"/>
            <a:ext cx="1280160" cy="1280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void pill"/>
          <p:cNvSpPr/>
          <p:nvPr/>
        </p:nvSpPr>
        <p:spPr>
          <a:xfrm>
            <a:off x="7360920" y="1581912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✕  AVOID</a:t>
            </a:r>
            <a:endParaRPr lang="en-US" sz="1400" dirty="0"/>
          </a:p>
        </p:txBody>
      </p:sp>
      <p:sp>
        <p:nvSpPr>
          <p:cNvPr id="8" name="light careful"/>
          <p:cNvSpPr/>
          <p:nvPr/>
        </p:nvSpPr>
        <p:spPr>
          <a:xfrm>
            <a:off x="9464040" y="2788920"/>
            <a:ext cx="1280160" cy="1280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careful pill"/>
          <p:cNvSpPr/>
          <p:nvPr/>
        </p:nvSpPr>
        <p:spPr>
          <a:xfrm>
            <a:off x="7360920" y="3227832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!  CAREFUL</a:t>
            </a:r>
            <a:endParaRPr lang="en-US" sz="1400" dirty="0"/>
          </a:p>
        </p:txBody>
      </p:sp>
      <p:sp>
        <p:nvSpPr>
          <p:cNvPr id="10" name="light good"/>
          <p:cNvSpPr/>
          <p:nvPr/>
        </p:nvSpPr>
        <p:spPr>
          <a:xfrm>
            <a:off x="9464040" y="443484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good pill"/>
          <p:cNvSpPr/>
          <p:nvPr/>
        </p:nvSpPr>
        <p:spPr>
          <a:xfrm>
            <a:off x="7360920" y="4873752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  GOOD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Meet Fatou, kafo leader in Brikama</a:t>
            </a:r>
            <a:endParaRPr lang="en-US" sz="3600" dirty="0"/>
          </a:p>
        </p:txBody>
      </p:sp>
      <p:sp>
        <p:nvSpPr>
          <p:cNvPr id="3" name="persona card"/>
          <p:cNvSpPr/>
          <p:nvPr/>
        </p:nvSpPr>
        <p:spPr>
          <a:xfrm>
            <a:off x="548640" y="1417320"/>
            <a:ext cx="393192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4" name="persona body"/>
          <p:cNvSpPr/>
          <p:nvPr/>
        </p:nvSpPr>
        <p:spPr>
          <a:xfrm>
            <a:off x="1554480" y="3291840"/>
            <a:ext cx="1920240" cy="1188720"/>
          </a:xfrm>
          <a:prstGeom prst="roundRect">
            <a:avLst>
              <a:gd name="adj" fmla="val 42308"/>
            </a:avLst>
          </a:prstGeom>
          <a:solidFill>
            <a:schemeClr val="accent1"/>
          </a:solidFill>
          <a:ln/>
        </p:spPr>
      </p:sp>
      <p:sp>
        <p:nvSpPr>
          <p:cNvPr id="5" name="persona head"/>
          <p:cNvSpPr/>
          <p:nvPr/>
        </p:nvSpPr>
        <p:spPr>
          <a:xfrm>
            <a:off x="2057400" y="228600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persona head wrap"/>
          <p:cNvSpPr/>
          <p:nvPr/>
        </p:nvSpPr>
        <p:spPr>
          <a:xfrm>
            <a:off x="1947672" y="1920240"/>
            <a:ext cx="1133856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/>
        </p:spPr>
      </p:sp>
      <p:sp>
        <p:nvSpPr>
          <p:cNvPr id="7" name="persona basic phone"/>
          <p:cNvSpPr/>
          <p:nvPr/>
        </p:nvSpPr>
        <p:spPr>
          <a:xfrm>
            <a:off x="3017520" y="3566160"/>
            <a:ext cx="329184" cy="566928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persona phone screen"/>
          <p:cNvSpPr/>
          <p:nvPr/>
        </p:nvSpPr>
        <p:spPr>
          <a:xfrm>
            <a:off x="3063240" y="3630168"/>
            <a:ext cx="237744" cy="182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persona seedling circle"/>
          <p:cNvSpPr/>
          <p:nvPr/>
        </p:nvSpPr>
        <p:spPr>
          <a:xfrm>
            <a:off x="868680" y="379476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0" name="persona seedlin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9319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4690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Fatou · composite persona</a:t>
            </a:r>
            <a:endParaRPr lang="en-US" sz="1100" dirty="0"/>
          </a:p>
        </p:txBody>
      </p:sp>
      <p:sp>
        <p:nvSpPr>
          <p:cNvPr id="12" name="fact 1 circle"/>
          <p:cNvSpPr/>
          <p:nvPr/>
        </p:nvSpPr>
        <p:spPr>
          <a:xfrm>
            <a:off x="4983480" y="16002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fact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7602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852160" y="1554480"/>
            <a:ext cx="5790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~200 women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share one garden, about 4 beds each</a:t>
            </a:r>
            <a:endParaRPr lang="en-US" sz="1900" dirty="0"/>
          </a:p>
        </p:txBody>
      </p:sp>
      <p:sp>
        <p:nvSpPr>
          <p:cNvPr id="15" name="fact 2 circle"/>
          <p:cNvSpPr/>
          <p:nvPr/>
        </p:nvSpPr>
        <p:spPr>
          <a:xfrm>
            <a:off x="4983480" y="27432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fact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29032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852160" y="2697480"/>
            <a:ext cx="5790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Basic phone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reads little English · speaks Mandinka</a:t>
            </a:r>
            <a:endParaRPr lang="en-US" sz="1900" dirty="0"/>
          </a:p>
        </p:txBody>
      </p:sp>
      <p:sp>
        <p:nvSpPr>
          <p:cNvPr id="18" name="fact 3 circle"/>
          <p:cNvSpPr/>
          <p:nvPr/>
        </p:nvSpPr>
        <p:spPr>
          <a:xfrm>
            <a:off x="4983480" y="38862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fact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4622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852160" y="3840480"/>
            <a:ext cx="5790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Sells at harvest to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whoever shows up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, with no reference price</a:t>
            </a:r>
            <a:endParaRPr lang="en-US" sz="1900" dirty="0"/>
          </a:p>
        </p:txBody>
      </p:sp>
      <p:sp>
        <p:nvSpPr>
          <p:cNvPr id="21" name="stat strip"/>
          <p:cNvSpPr/>
          <p:nvPr/>
        </p:nvSpPr>
        <p:spPr>
          <a:xfrm>
            <a:off x="548640" y="5349240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22960" y="53492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6,600 women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farm in 33 NEMA community gardens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892040" y="5349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47% of women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can read (men: 67%)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046720" y="5349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76% of women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own a phone (men: 86%)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Farmers get numbers, not decisions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17320"/>
            <a:ext cx="3454298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3042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adviser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2814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for every 3,000 farmers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2044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Govt. extension workers · Dept. of Agriculture, 2025</a:t>
            </a:r>
            <a:endParaRPr lang="en-US" sz="1100" dirty="0"/>
          </a:p>
        </p:txBody>
      </p:sp>
      <p:sp>
        <p:nvSpPr>
          <p:cNvPr id="7" name="stat card 2"/>
          <p:cNvSpPr/>
          <p:nvPr/>
        </p:nvSpPr>
        <p:spPr>
          <a:xfrm>
            <a:off x="4368698" y="1417320"/>
            <a:ext cx="3454298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88738" y="1600200"/>
            <a:ext cx="3042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About 1 in 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88738" y="2606040"/>
            <a:ext cx="2814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of farm households get any market information at all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88738" y="352044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Agricultural Census 2011/12 (22%)</a:t>
            </a:r>
            <a:endParaRPr lang="en-US" sz="1100" dirty="0"/>
          </a:p>
        </p:txBody>
      </p:sp>
      <p:sp>
        <p:nvSpPr>
          <p:cNvPr id="11" name="stat card 3"/>
          <p:cNvSpPr/>
          <p:nvPr/>
        </p:nvSpPr>
        <p:spPr>
          <a:xfrm>
            <a:off x="8188757" y="1417320"/>
            <a:ext cx="3454298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08797" y="1600200"/>
            <a:ext cx="3042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Up to half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508797" y="2606040"/>
            <a:ext cx="2814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of vegetables can be lost after harvest, before they are sold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508797" y="352044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Gambia + Sub-Saharan Africa · AfDB 2026</a:t>
            </a:r>
            <a:endParaRPr lang="en-US" sz="1100" dirty="0"/>
          </a:p>
        </p:txBody>
      </p:sp>
      <p:sp>
        <p:nvSpPr>
          <p:cNvPr id="15" name="price gap circle"/>
          <p:cNvSpPr/>
          <p:nvPr/>
        </p:nvSpPr>
        <p:spPr>
          <a:xfrm>
            <a:off x="548640" y="43159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price ga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4430268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425196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Same week, July 2026: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onions D1,200/bag in Jarra Soma, D1,400 in Kerr Jatta. No official source told farmers.</a:t>
            </a:r>
            <a:endParaRPr lang="en-US" sz="1600" dirty="0"/>
          </a:p>
        </p:txBody>
      </p:sp>
      <p:sp>
        <p:nvSpPr>
          <p:cNvPr id="18" name="chain 1"/>
          <p:cNvSpPr/>
          <p:nvPr/>
        </p:nvSpPr>
        <p:spPr>
          <a:xfrm>
            <a:off x="548640" y="5212080"/>
            <a:ext cx="374904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Everyone plants tomato at the same time</a:t>
            </a:r>
            <a:endParaRPr lang="en-US" sz="1500" dirty="0"/>
          </a:p>
        </p:txBody>
      </p:sp>
      <p:sp>
        <p:nvSpPr>
          <p:cNvPr id="19" name="arrow"/>
          <p:cNvSpPr/>
          <p:nvPr/>
        </p:nvSpPr>
        <p:spPr>
          <a:xfrm>
            <a:off x="4389120" y="548640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chain 2"/>
          <p:cNvSpPr/>
          <p:nvPr/>
        </p:nvSpPr>
        <p:spPr>
          <a:xfrm>
            <a:off x="4754880" y="52120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!  Glut</a:t>
            </a:r>
            <a:endParaRPr lang="en-US" sz="1500" dirty="0"/>
          </a:p>
        </p:txBody>
      </p:sp>
      <p:sp>
        <p:nvSpPr>
          <p:cNvPr id="21" name="arrow"/>
          <p:cNvSpPr/>
          <p:nvPr/>
        </p:nvSpPr>
        <p:spPr>
          <a:xfrm>
            <a:off x="6583680" y="548640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chain 3"/>
          <p:cNvSpPr/>
          <p:nvPr/>
        </p:nvSpPr>
        <p:spPr>
          <a:xfrm>
            <a:off x="6949440" y="5212080"/>
            <a:ext cx="246888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✕  “Giveaway” prices</a:t>
            </a:r>
            <a:endParaRPr lang="en-US" sz="1500" dirty="0"/>
          </a:p>
        </p:txBody>
      </p:sp>
      <p:sp>
        <p:nvSpPr>
          <p:cNvPr id="23" name="arrow"/>
          <p:cNvSpPr/>
          <p:nvPr/>
        </p:nvSpPr>
        <p:spPr>
          <a:xfrm>
            <a:off x="9509760" y="548640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chain 4"/>
          <p:cNvSpPr/>
          <p:nvPr/>
        </p:nvSpPr>
        <p:spPr>
          <a:xfrm>
            <a:off x="9875520" y="52120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✕  Spoilage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pipes exist. The last step is missing</a:t>
            </a:r>
            <a:endParaRPr lang="en-US" sz="3600" dirty="0"/>
          </a:p>
        </p:txBody>
      </p:sp>
      <p:sp>
        <p:nvSpPr>
          <p:cNvPr id="3" name="Marché Kibaroo card"/>
          <p:cNvSpPr/>
          <p:nvPr/>
        </p:nvSpPr>
        <p:spPr>
          <a:xfrm>
            <a:off x="548640" y="1371600"/>
            <a:ext cx="64008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4" name="Marché Kibaroo circle"/>
          <p:cNvSpPr/>
          <p:nvPr/>
        </p:nvSpPr>
        <p:spPr>
          <a:xfrm>
            <a:off x="731520" y="1536192"/>
            <a:ext cx="493776" cy="493776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Marché Kibaro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65963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4475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Marché Kibaroo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Voice price service · 29 markets · English + 5 local languages</a:t>
            </a:r>
            <a:endParaRPr lang="en-US" sz="1500" dirty="0"/>
          </a:p>
        </p:txBody>
      </p:sp>
      <p:sp>
        <p:nvSpPr>
          <p:cNvPr id="7" name="Senenyaa Bantabaa card"/>
          <p:cNvSpPr/>
          <p:nvPr/>
        </p:nvSpPr>
        <p:spPr>
          <a:xfrm>
            <a:off x="548640" y="2304288"/>
            <a:ext cx="64008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8" name="Senenyaa Bantabaa circle"/>
          <p:cNvSpPr/>
          <p:nvPr/>
        </p:nvSpPr>
        <p:spPr>
          <a:xfrm>
            <a:off x="731520" y="2468880"/>
            <a:ext cx="493776" cy="493776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Senenyaa Bantaba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2592324"/>
            <a:ext cx="246888" cy="2468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Senenyaa Bantabaa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Government e-extension phone line · 4 languages</a:t>
            </a:r>
            <a:endParaRPr lang="en-US" sz="1500" dirty="0"/>
          </a:p>
        </p:txBody>
      </p:sp>
      <p:sp>
        <p:nvSpPr>
          <p:cNvPr id="11" name="Jokkalante card"/>
          <p:cNvSpPr/>
          <p:nvPr/>
        </p:nvSpPr>
        <p:spPr>
          <a:xfrm>
            <a:off x="548640" y="3236976"/>
            <a:ext cx="64008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2" name="Jokkalante circle"/>
          <p:cNvSpPr/>
          <p:nvPr/>
        </p:nvSpPr>
        <p:spPr>
          <a:xfrm>
            <a:off x="731520" y="3401568"/>
            <a:ext cx="493776" cy="493776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Jokkalant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525012"/>
            <a:ext cx="246888" cy="24688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31012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Jokkalante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WhatsApp buyer linkage · needs smartphone + data</a:t>
            </a:r>
            <a:endParaRPr lang="en-US" sz="1500" dirty="0"/>
          </a:p>
        </p:txBody>
      </p:sp>
      <p:sp>
        <p:nvSpPr>
          <p:cNvPr id="15" name="arrow to gap"/>
          <p:cNvSpPr/>
          <p:nvPr/>
        </p:nvSpPr>
        <p:spPr>
          <a:xfrm>
            <a:off x="7086600" y="269748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gap card"/>
          <p:cNvSpPr/>
          <p:nvPr/>
        </p:nvSpPr>
        <p:spPr>
          <a:xfrm>
            <a:off x="7726680" y="1371600"/>
            <a:ext cx="3916375" cy="2688336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17" name="avoid pill"/>
          <p:cNvSpPr/>
          <p:nvPr/>
        </p:nvSpPr>
        <p:spPr>
          <a:xfrm>
            <a:off x="8001000" y="1572768"/>
            <a:ext cx="164592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✕  THE GAP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001000" y="2103120"/>
            <a:ext cx="33677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No one turns information into </a:t>
            </a:r>
            <a:pPr indent="0" marL="0">
              <a:spcAft>
                <a:spcPts val="800"/>
              </a:spcAft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what to do.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No one guarantees a buyer </a:t>
            </a:r>
            <a:pPr indent="0" marL="0">
              <a:spcAft>
                <a:spcPts val="800"/>
              </a:spcAft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before planting.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WHAT THE EVIDENCE SAYS → WHAT WE DID</a:t>
            </a:r>
            <a:endParaRPr lang="en-US" sz="1200" dirty="0"/>
          </a:p>
        </p:txBody>
      </p:sp>
      <p:sp>
        <p:nvSpPr>
          <p:cNvPr id="20" name="evidence 1"/>
          <p:cNvSpPr/>
          <p:nvPr/>
        </p:nvSpPr>
        <p:spPr>
          <a:xfrm>
            <a:off x="548640" y="4663440"/>
            <a:ext cx="3515258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31520" y="4754880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Price info alone: farmers got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only 7–10% better prices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and traders can take the gains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54406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We add a committed buyer</a:t>
            </a:r>
            <a:endParaRPr lang="en-US" sz="1400" dirty="0"/>
          </a:p>
        </p:txBody>
      </p:sp>
      <p:sp>
        <p:nvSpPr>
          <p:cNvPr id="23" name="evidence 2"/>
          <p:cNvSpPr/>
          <p:nvPr/>
        </p:nvSpPr>
        <p:spPr>
          <a:xfrm>
            <a:off x="4338218" y="4663440"/>
            <a:ext cx="3515258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521098" y="4754880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Services grew only through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USSD / operator channels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(MLouma, Viamo)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4521098" y="54406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We use USSD + voice, not a farmer app</a:t>
            </a:r>
            <a:endParaRPr lang="en-US" sz="1400" dirty="0"/>
          </a:p>
        </p:txBody>
      </p:sp>
      <p:sp>
        <p:nvSpPr>
          <p:cNvPr id="26" name="evidence 3"/>
          <p:cNvSpPr/>
          <p:nvPr/>
        </p:nvSpPr>
        <p:spPr>
          <a:xfrm>
            <a:off x="8127797" y="4663440"/>
            <a:ext cx="3515258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310677" y="4754880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Reached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through their groups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women's uptake rose from 10% to 48% (DigiFarm)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310677" y="54406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We work through the kafo leader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One answer everyone understands</a:t>
            </a:r>
            <a:endParaRPr lang="en-US" sz="3600" dirty="0"/>
          </a:p>
        </p:txBody>
      </p:sp>
      <p:sp>
        <p:nvSpPr>
          <p:cNvPr id="3" name="good pill"/>
          <p:cNvSpPr/>
          <p:nvPr/>
        </p:nvSpPr>
        <p:spPr>
          <a:xfrm>
            <a:off x="3017520" y="1463040"/>
            <a:ext cx="2753258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  GOOD</a:t>
            </a:r>
            <a:endParaRPr lang="en-US" sz="1600" dirty="0"/>
          </a:p>
        </p:txBody>
      </p:sp>
      <p:sp>
        <p:nvSpPr>
          <p:cNvPr id="4" name="careful pill"/>
          <p:cNvSpPr/>
          <p:nvPr/>
        </p:nvSpPr>
        <p:spPr>
          <a:xfrm>
            <a:off x="5953658" y="1463040"/>
            <a:ext cx="2753258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!  CAREFUL</a:t>
            </a:r>
            <a:endParaRPr lang="en-US" sz="1600" dirty="0"/>
          </a:p>
        </p:txBody>
      </p:sp>
      <p:sp>
        <p:nvSpPr>
          <p:cNvPr id="5" name="avoid pill"/>
          <p:cNvSpPr/>
          <p:nvPr/>
        </p:nvSpPr>
        <p:spPr>
          <a:xfrm>
            <a:off x="8889797" y="1463040"/>
            <a:ext cx="2753258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✕  AVOID</a:t>
            </a:r>
            <a:endParaRPr lang="en-US" sz="1600" dirty="0"/>
          </a:p>
        </p:txBody>
      </p:sp>
      <p:sp>
        <p:nvSpPr>
          <p:cNvPr id="6" name="What to plant circle"/>
          <p:cNvSpPr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What to plan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591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2103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to plant</a:t>
            </a:r>
            <a:endParaRPr lang="en-US" sz="1700" dirty="0"/>
          </a:p>
        </p:txBody>
      </p:sp>
      <p:sp>
        <p:nvSpPr>
          <p:cNvPr id="9" name="What to plant 0"/>
          <p:cNvSpPr/>
          <p:nvPr/>
        </p:nvSpPr>
        <p:spPr>
          <a:xfrm>
            <a:off x="3017520" y="21031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00400" y="21031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Little competition, buyer waiting</a:t>
            </a:r>
            <a:endParaRPr lang="en-US" sz="1500" dirty="0"/>
          </a:p>
        </p:txBody>
      </p:sp>
      <p:sp>
        <p:nvSpPr>
          <p:cNvPr id="11" name="What to plant 1"/>
          <p:cNvSpPr/>
          <p:nvPr/>
        </p:nvSpPr>
        <p:spPr>
          <a:xfrm>
            <a:off x="5953658" y="21031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36538" y="21031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Many kafos planting</a:t>
            </a:r>
            <a:endParaRPr lang="en-US" sz="1500" dirty="0"/>
          </a:p>
        </p:txBody>
      </p:sp>
      <p:sp>
        <p:nvSpPr>
          <p:cNvPr id="13" name="What to plant 2"/>
          <p:cNvSpPr/>
          <p:nvPr/>
        </p:nvSpPr>
        <p:spPr>
          <a:xfrm>
            <a:off x="8889797" y="21031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072677" y="21031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Glut coming</a:t>
            </a:r>
            <a:endParaRPr lang="en-US" sz="1500" dirty="0"/>
          </a:p>
        </p:txBody>
      </p:sp>
      <p:sp>
        <p:nvSpPr>
          <p:cNvPr id="15" name="Where to sell circle"/>
          <p:cNvSpPr/>
          <p:nvPr/>
        </p:nvSpPr>
        <p:spPr>
          <a:xfrm>
            <a:off x="548640" y="313639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Where to sel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7355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80160" y="30175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Where to sell</a:t>
            </a:r>
            <a:endParaRPr lang="en-US" sz="1700" dirty="0"/>
          </a:p>
        </p:txBody>
      </p:sp>
      <p:sp>
        <p:nvSpPr>
          <p:cNvPr id="18" name="Where to sell 0"/>
          <p:cNvSpPr/>
          <p:nvPr/>
        </p:nvSpPr>
        <p:spPr>
          <a:xfrm>
            <a:off x="3017520" y="30175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200400" y="30175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Good price or confirmed buyer</a:t>
            </a:r>
            <a:endParaRPr lang="en-US" sz="1500" dirty="0"/>
          </a:p>
        </p:txBody>
      </p:sp>
      <p:sp>
        <p:nvSpPr>
          <p:cNvPr id="20" name="Where to sell 1"/>
          <p:cNvSpPr/>
          <p:nvPr/>
        </p:nvSpPr>
        <p:spPr>
          <a:xfrm>
            <a:off x="5953658" y="30175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136538" y="30175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Average — compare or wait</a:t>
            </a:r>
            <a:endParaRPr lang="en-US" sz="1500" dirty="0"/>
          </a:p>
        </p:txBody>
      </p:sp>
      <p:sp>
        <p:nvSpPr>
          <p:cNvPr id="22" name="Where to sell 2"/>
          <p:cNvSpPr/>
          <p:nvPr/>
        </p:nvSpPr>
        <p:spPr>
          <a:xfrm>
            <a:off x="8889797" y="30175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072677" y="30175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Price crash, don't travel</a:t>
            </a:r>
            <a:endParaRPr lang="en-US" sz="1500" dirty="0"/>
          </a:p>
        </p:txBody>
      </p:sp>
      <p:sp>
        <p:nvSpPr>
          <p:cNvPr id="24" name="Risk alert circle"/>
          <p:cNvSpPr/>
          <p:nvPr/>
        </p:nvSpPr>
        <p:spPr>
          <a:xfrm>
            <a:off x="548640" y="405079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Risk aler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87952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280160" y="39319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Risk alert</a:t>
            </a:r>
            <a:endParaRPr lang="en-US" sz="1700" dirty="0"/>
          </a:p>
        </p:txBody>
      </p:sp>
      <p:sp>
        <p:nvSpPr>
          <p:cNvPr id="27" name="Risk alert 0"/>
          <p:cNvSpPr/>
          <p:nvPr/>
        </p:nvSpPr>
        <p:spPr>
          <a:xfrm>
            <a:off x="3017520" y="39319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3200400" y="39319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 OK</a:t>
            </a:r>
            <a:endParaRPr lang="en-US" sz="1500" dirty="0"/>
          </a:p>
        </p:txBody>
      </p:sp>
      <p:sp>
        <p:nvSpPr>
          <p:cNvPr id="29" name="Risk alert 1"/>
          <p:cNvSpPr/>
          <p:nvPr/>
        </p:nvSpPr>
        <p:spPr>
          <a:xfrm>
            <a:off x="5953658" y="39319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136538" y="39319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Watch out</a:t>
            </a:r>
            <a:endParaRPr lang="en-US" sz="1500" dirty="0"/>
          </a:p>
        </p:txBody>
      </p:sp>
      <p:sp>
        <p:nvSpPr>
          <p:cNvPr id="31" name="Risk alert 2"/>
          <p:cNvSpPr/>
          <p:nvPr/>
        </p:nvSpPr>
        <p:spPr>
          <a:xfrm>
            <a:off x="8889797" y="39319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9072677" y="39319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Act now</a:t>
            </a:r>
            <a:endParaRPr lang="en-US" sz="1500" dirty="0"/>
          </a:p>
        </p:txBody>
      </p:sp>
      <p:sp>
        <p:nvSpPr>
          <p:cNvPr id="33" name="three ways strip"/>
          <p:cNvSpPr/>
          <p:nvPr/>
        </p:nvSpPr>
        <p:spPr>
          <a:xfrm>
            <a:off x="548640" y="516636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22960" y="5166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Same answer as</a:t>
            </a:r>
            <a:endParaRPr lang="en-US" sz="1500" dirty="0"/>
          </a:p>
        </p:txBody>
      </p:sp>
      <p:sp>
        <p:nvSpPr>
          <p:cNvPr id="35" name="Colour tile circle"/>
          <p:cNvSpPr/>
          <p:nvPr/>
        </p:nvSpPr>
        <p:spPr>
          <a:xfrm>
            <a:off x="2560320" y="53675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Colour ti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5504688"/>
            <a:ext cx="274320" cy="27432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3246120" y="5303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Colour tile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leader app</a:t>
            </a:r>
            <a:endParaRPr lang="en-US" sz="1500" dirty="0"/>
          </a:p>
        </p:txBody>
      </p:sp>
      <p:sp>
        <p:nvSpPr>
          <p:cNvPr id="38" name="One word circle"/>
          <p:cNvSpPr/>
          <p:nvPr/>
        </p:nvSpPr>
        <p:spPr>
          <a:xfrm>
            <a:off x="5577840" y="53675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One wor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5504688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6263640" y="5303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One word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basic phone</a:t>
            </a:r>
            <a:endParaRPr lang="en-US" sz="1500" dirty="0"/>
          </a:p>
        </p:txBody>
      </p:sp>
      <p:sp>
        <p:nvSpPr>
          <p:cNvPr id="41" name="Spoken sentence circle"/>
          <p:cNvSpPr/>
          <p:nvPr/>
        </p:nvSpPr>
        <p:spPr>
          <a:xfrm>
            <a:off x="8595360" y="53675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2" name="Spoken sentenc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5504688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9281160" y="5303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Spoken sentence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voice call</a:t>
            </a:r>
            <a:endParaRPr lang="en-US" sz="1500" dirty="0"/>
          </a:p>
        </p:txBody>
      </p:sp>
      <p:sp>
        <p:nvSpPr>
          <p:cNvPr id="44" name="Text 3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buyer's order comes before planting</a:t>
            </a:r>
            <a:endParaRPr lang="en-US" sz="3600" dirty="0"/>
          </a:p>
        </p:txBody>
      </p:sp>
      <p:sp>
        <p:nvSpPr>
          <p:cNvPr id="3" name="band before planting"/>
          <p:cNvSpPr/>
          <p:nvPr/>
        </p:nvSpPr>
        <p:spPr>
          <a:xfrm>
            <a:off x="457200" y="1371600"/>
            <a:ext cx="5570068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4" name="band growing"/>
          <p:cNvSpPr/>
          <p:nvPr/>
        </p:nvSpPr>
        <p:spPr>
          <a:xfrm>
            <a:off x="6164428" y="1371600"/>
            <a:ext cx="5570068" cy="269748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BEFORE PLANTING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347308" y="1490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GROWING → HARVEST → PAID</a:t>
            </a:r>
            <a:endParaRPr lang="en-US" sz="1200" dirty="0"/>
          </a:p>
        </p:txBody>
      </p:sp>
      <p:sp>
        <p:nvSpPr>
          <p:cNvPr id="7" name="Buyer posts order circle"/>
          <p:cNvSpPr/>
          <p:nvPr/>
        </p:nvSpPr>
        <p:spPr>
          <a:xfrm>
            <a:off x="882625" y="19202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Buyer posts ord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25" y="2148840"/>
            <a:ext cx="457200" cy="457200"/>
          </a:xfrm>
          <a:prstGeom prst="rect">
            <a:avLst/>
          </a:prstGeom>
        </p:spPr>
      </p:pic>
      <p:sp>
        <p:nvSpPr>
          <p:cNvPr id="9" name="step number 1"/>
          <p:cNvSpPr/>
          <p:nvPr/>
        </p:nvSpPr>
        <p:spPr>
          <a:xfrm>
            <a:off x="836905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Buyer posts order</a:t>
            </a:r>
            <a:endParaRPr lang="en-US" sz="1500" dirty="0"/>
          </a:p>
        </p:txBody>
      </p:sp>
      <p:sp>
        <p:nvSpPr>
          <p:cNvPr id="11" name="flow arrow 1"/>
          <p:cNvSpPr/>
          <p:nvPr/>
        </p:nvSpPr>
        <p:spPr>
          <a:xfrm>
            <a:off x="1870177" y="2377440"/>
            <a:ext cx="84170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Farmer asks “what to plant?” circle"/>
          <p:cNvSpPr/>
          <p:nvPr/>
        </p:nvSpPr>
        <p:spPr>
          <a:xfrm>
            <a:off x="2785034" y="192024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Farmer asks “what to plant?”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634" y="2148840"/>
            <a:ext cx="457200" cy="457200"/>
          </a:xfrm>
          <a:prstGeom prst="rect">
            <a:avLst/>
          </a:prstGeom>
        </p:spPr>
      </p:pic>
      <p:sp>
        <p:nvSpPr>
          <p:cNvPr id="14" name="step number 2"/>
          <p:cNvSpPr/>
          <p:nvPr/>
        </p:nvSpPr>
        <p:spPr>
          <a:xfrm>
            <a:off x="2739314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451049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Farmer asks “what to plant?”</a:t>
            </a:r>
            <a:endParaRPr lang="en-US" sz="1500" dirty="0"/>
          </a:p>
        </p:txBody>
      </p:sp>
      <p:sp>
        <p:nvSpPr>
          <p:cNvPr id="16" name="flow arrow 2"/>
          <p:cNvSpPr/>
          <p:nvPr/>
        </p:nvSpPr>
        <p:spPr>
          <a:xfrm>
            <a:off x="3772586" y="2377440"/>
            <a:ext cx="84170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Leader accepts &amp; logs planting circle"/>
          <p:cNvSpPr/>
          <p:nvPr/>
        </p:nvSpPr>
        <p:spPr>
          <a:xfrm>
            <a:off x="4687443" y="192024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Leader accepts &amp; logs plantin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043" y="2148840"/>
            <a:ext cx="457200" cy="457200"/>
          </a:xfrm>
          <a:prstGeom prst="rect">
            <a:avLst/>
          </a:prstGeom>
        </p:spPr>
      </p:pic>
      <p:sp>
        <p:nvSpPr>
          <p:cNvPr id="19" name="step number 3"/>
          <p:cNvSpPr/>
          <p:nvPr/>
        </p:nvSpPr>
        <p:spPr>
          <a:xfrm>
            <a:off x="4641723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353458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Leader accepts &amp; logs planting</a:t>
            </a:r>
            <a:endParaRPr lang="en-US" sz="1500" dirty="0"/>
          </a:p>
        </p:txBody>
      </p:sp>
      <p:sp>
        <p:nvSpPr>
          <p:cNvPr id="21" name="flow arrow 3"/>
          <p:cNvSpPr/>
          <p:nvPr/>
        </p:nvSpPr>
        <p:spPr>
          <a:xfrm>
            <a:off x="5674995" y="2377440"/>
            <a:ext cx="84170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Alerts while growing circle"/>
          <p:cNvSpPr/>
          <p:nvPr/>
        </p:nvSpPr>
        <p:spPr>
          <a:xfrm>
            <a:off x="6589852" y="192024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Alerts while growin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452" y="2148840"/>
            <a:ext cx="457200" cy="457200"/>
          </a:xfrm>
          <a:prstGeom prst="rect">
            <a:avLst/>
          </a:prstGeom>
        </p:spPr>
      </p:pic>
      <p:sp>
        <p:nvSpPr>
          <p:cNvPr id="24" name="step number 4"/>
          <p:cNvSpPr/>
          <p:nvPr/>
        </p:nvSpPr>
        <p:spPr>
          <a:xfrm>
            <a:off x="6544132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255868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Alerts while growing</a:t>
            </a:r>
            <a:endParaRPr lang="en-US" sz="1500" dirty="0"/>
          </a:p>
        </p:txBody>
      </p:sp>
      <p:sp>
        <p:nvSpPr>
          <p:cNvPr id="26" name="flow arrow 4"/>
          <p:cNvSpPr/>
          <p:nvPr/>
        </p:nvSpPr>
        <p:spPr>
          <a:xfrm>
            <a:off x="7577404" y="2377440"/>
            <a:ext cx="84170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7" name="Weigh &amp; deliver circle"/>
          <p:cNvSpPr/>
          <p:nvPr/>
        </p:nvSpPr>
        <p:spPr>
          <a:xfrm>
            <a:off x="8492261" y="192024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8" name="Weigh &amp; delive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861" y="2148840"/>
            <a:ext cx="457200" cy="457200"/>
          </a:xfrm>
          <a:prstGeom prst="rect">
            <a:avLst/>
          </a:prstGeom>
        </p:spPr>
      </p:pic>
      <p:sp>
        <p:nvSpPr>
          <p:cNvPr id="29" name="step number 5"/>
          <p:cNvSpPr/>
          <p:nvPr/>
        </p:nvSpPr>
        <p:spPr>
          <a:xfrm>
            <a:off x="8446541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8158277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Weigh &amp; deliver</a:t>
            </a:r>
            <a:endParaRPr lang="en-US" sz="1500" dirty="0"/>
          </a:p>
        </p:txBody>
      </p:sp>
      <p:sp>
        <p:nvSpPr>
          <p:cNvPr id="31" name="flow arrow 5"/>
          <p:cNvSpPr/>
          <p:nvPr/>
        </p:nvSpPr>
        <p:spPr>
          <a:xfrm>
            <a:off x="9479813" y="2377440"/>
            <a:ext cx="84170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2" name="Each farmer paid by mobile money circle"/>
          <p:cNvSpPr/>
          <p:nvPr/>
        </p:nvSpPr>
        <p:spPr>
          <a:xfrm>
            <a:off x="10394671" y="192024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3" name="Each farmer paid by mobile money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3271" y="2148840"/>
            <a:ext cx="457200" cy="457200"/>
          </a:xfrm>
          <a:prstGeom prst="rect">
            <a:avLst/>
          </a:prstGeom>
        </p:spPr>
      </p:pic>
      <p:sp>
        <p:nvSpPr>
          <p:cNvPr id="34" name="step number 6"/>
          <p:cNvSpPr/>
          <p:nvPr/>
        </p:nvSpPr>
        <p:spPr>
          <a:xfrm>
            <a:off x="10348951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10060686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farmer paid by mobile money</a:t>
            </a:r>
            <a:endParaRPr lang="en-US" sz="1500" dirty="0"/>
          </a:p>
        </p:txBody>
      </p:sp>
      <p:sp>
        <p:nvSpPr>
          <p:cNvPr id="36" name="quote card"/>
          <p:cNvSpPr/>
          <p:nvPr/>
        </p:nvSpPr>
        <p:spPr>
          <a:xfrm>
            <a:off x="548640" y="4389120"/>
            <a:ext cx="69494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777240" y="43434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</a:t>
            </a:r>
            <a:endParaRPr lang="en-US" sz="6000" dirty="0"/>
          </a:p>
        </p:txBody>
      </p:sp>
      <p:sp>
        <p:nvSpPr>
          <p:cNvPr id="38" name="Text 30"/>
          <p:cNvSpPr txBox="1"/>
          <p:nvPr/>
        </p:nvSpPr>
        <p:spPr>
          <a:xfrm>
            <a:off x="1417320" y="45720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 know we have a buyer before we even plant.</a:t>
            </a:r>
            <a:endParaRPr lang="en-US" sz="2200" dirty="0"/>
          </a:p>
        </p:txBody>
      </p:sp>
      <p:sp>
        <p:nvSpPr>
          <p:cNvPr id="39" name="Text 31"/>
          <p:cNvSpPr txBox="1"/>
          <p:nvPr/>
        </p:nvSpPr>
        <p:spPr>
          <a:xfrm>
            <a:off x="1417320" y="5349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Kumba Jallow, Jahaur women's group, which supplies school meals weekly (GAFSP, Mar 2026)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7909560" y="4389120"/>
            <a:ext cx="37334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It works when a project arranges it.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Kafo Signal makes it the default for every kafo.</a:t>
            </a:r>
            <a:endParaRPr lang="en-US" sz="1800" dirty="0"/>
          </a:p>
        </p:txBody>
      </p:sp>
      <p:sp>
        <p:nvSpPr>
          <p:cNvPr id="41" name="Text 3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Live demo: Fatou's season</a:t>
            </a:r>
            <a:endParaRPr lang="en-US" sz="4000" dirty="0"/>
          </a:p>
        </p:txBody>
      </p:sp>
      <p:sp>
        <p:nvSpPr>
          <p:cNvPr id="3" name="traffic light dots 1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traffic light dots 2"/>
          <p:cNvSpPr/>
          <p:nvPr/>
        </p:nvSpPr>
        <p:spPr>
          <a:xfrm>
            <a:off x="950976" y="146304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raffic light dots 3"/>
          <p:cNvSpPr/>
          <p:nvPr/>
        </p:nvSpPr>
        <p:spPr>
          <a:xfrm>
            <a:off x="1353312" y="146304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demo step 1"/>
          <p:cNvSpPr/>
          <p:nvPr/>
        </p:nvSpPr>
        <p:spPr>
          <a:xfrm>
            <a:off x="548640" y="3657600"/>
            <a:ext cx="1889699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  Buyer posts order</a:t>
            </a:r>
            <a:endParaRPr lang="en-US" sz="1500" dirty="0"/>
          </a:p>
        </p:txBody>
      </p:sp>
      <p:sp>
        <p:nvSpPr>
          <p:cNvPr id="7" name="demo arrow 1"/>
          <p:cNvSpPr/>
          <p:nvPr/>
        </p:nvSpPr>
        <p:spPr>
          <a:xfrm>
            <a:off x="2502347" y="3941064"/>
            <a:ext cx="283464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8" name="demo step 2"/>
          <p:cNvSpPr/>
          <p:nvPr/>
        </p:nvSpPr>
        <p:spPr>
          <a:xfrm>
            <a:off x="2849819" y="3657600"/>
            <a:ext cx="1889699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  Farmer: *1234#</a:t>
            </a:r>
            <a:endParaRPr lang="en-US" sz="1500" dirty="0"/>
          </a:p>
        </p:txBody>
      </p:sp>
      <p:sp>
        <p:nvSpPr>
          <p:cNvPr id="9" name="demo arrow 2"/>
          <p:cNvSpPr/>
          <p:nvPr/>
        </p:nvSpPr>
        <p:spPr>
          <a:xfrm>
            <a:off x="4803526" y="3941064"/>
            <a:ext cx="283464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0" name="demo step 3"/>
          <p:cNvSpPr/>
          <p:nvPr/>
        </p:nvSpPr>
        <p:spPr>
          <a:xfrm>
            <a:off x="5150998" y="3657600"/>
            <a:ext cx="1889699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  Leader accepts</a:t>
            </a:r>
            <a:endParaRPr lang="en-US" sz="1500" dirty="0"/>
          </a:p>
        </p:txBody>
      </p:sp>
      <p:sp>
        <p:nvSpPr>
          <p:cNvPr id="11" name="demo arrow 3"/>
          <p:cNvSpPr/>
          <p:nvPr/>
        </p:nvSpPr>
        <p:spPr>
          <a:xfrm>
            <a:off x="7104705" y="3941064"/>
            <a:ext cx="283464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2" name="demo step 4"/>
          <p:cNvSpPr/>
          <p:nvPr/>
        </p:nvSpPr>
        <p:spPr>
          <a:xfrm>
            <a:off x="7452177" y="3657600"/>
            <a:ext cx="1889699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  Admin triggers rain</a:t>
            </a:r>
            <a:endParaRPr lang="en-US" sz="1500" dirty="0"/>
          </a:p>
        </p:txBody>
      </p:sp>
      <p:sp>
        <p:nvSpPr>
          <p:cNvPr id="13" name="demo arrow 4"/>
          <p:cNvSpPr/>
          <p:nvPr/>
        </p:nvSpPr>
        <p:spPr>
          <a:xfrm>
            <a:off x="9405884" y="3941064"/>
            <a:ext cx="283464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4" name="demo step 5"/>
          <p:cNvSpPr/>
          <p:nvPr/>
        </p:nvSpPr>
        <p:spPr>
          <a:xfrm>
            <a:off x="9753356" y="3657600"/>
            <a:ext cx="1889699" cy="5669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  PAID SMS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Prototype · simulated · demo data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Works on any phone, no internet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9357055" y="109728"/>
            <a:ext cx="2286000" cy="329184"/>
          </a:xfrm>
          <a:prstGeom prst="roundRect">
            <a:avLst>
              <a:gd name="adj" fmla="val 55556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Prototype · simulated</a:t>
            </a:r>
            <a:endParaRPr lang="en-US" sz="1200" dirty="0"/>
          </a:p>
        </p:txBody>
      </p:sp>
      <p:pic>
        <p:nvPicPr>
          <p:cNvPr id="4" name="Basic phone: *1234# main menu" descr="Basic phone: *1234# main me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288428" cy="4617720"/>
          </a:xfrm>
          <a:prstGeom prst="rect">
            <a:avLst/>
          </a:prstGeom>
        </p:spPr>
      </p:pic>
      <p:pic>
        <p:nvPicPr>
          <p:cNvPr id="5" name="Basic phone: what to plant answer" descr="Basic phone: what to plant answ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108" y="1371600"/>
            <a:ext cx="2288428" cy="4617720"/>
          </a:xfrm>
          <a:prstGeom prst="rect">
            <a:avLst/>
          </a:prstGeom>
        </p:spPr>
      </p:pic>
      <p:pic>
        <p:nvPicPr>
          <p:cNvPr id="6" name="Basic phone: ACT NOW heavy-rain SMS" descr="Basic phone: ACT NOW heavy-rain SM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575" y="2240280"/>
            <a:ext cx="1857931" cy="37490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6080760"/>
            <a:ext cx="2288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Main menu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3157108" y="6080760"/>
            <a:ext cx="2288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 What to plant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5765575" y="6080760"/>
            <a:ext cx="18579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SMS alert</a:t>
            </a:r>
            <a:endParaRPr lang="en-US" sz="1100" dirty="0"/>
          </a:p>
        </p:txBody>
      </p:sp>
      <p:sp>
        <p:nvSpPr>
          <p:cNvPr id="10" name="*1234# icon circle"/>
          <p:cNvSpPr/>
          <p:nvPr/>
        </p:nvSpPr>
        <p:spPr>
          <a:xfrm>
            <a:off x="800100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*1234#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60020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778240" y="1444752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*1234#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Free text menu</a:t>
            </a:r>
            <a:endParaRPr lang="en-US" sz="1500" dirty="0"/>
          </a:p>
        </p:txBody>
      </p:sp>
      <p:sp>
        <p:nvSpPr>
          <p:cNvPr id="13" name="*4321# icon circle"/>
          <p:cNvSpPr/>
          <p:nvPr/>
        </p:nvSpPr>
        <p:spPr>
          <a:xfrm>
            <a:off x="800100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*4321#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65176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778240" y="2496312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*4321#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Free call-back in her language</a:t>
            </a:r>
            <a:endParaRPr lang="en-US" sz="1500" dirty="0"/>
          </a:p>
        </p:txBody>
      </p:sp>
      <p:sp>
        <p:nvSpPr>
          <p:cNvPr id="16" name="Key word first icon circle"/>
          <p:cNvSpPr/>
          <p:nvPr/>
        </p:nvSpPr>
        <p:spPr>
          <a:xfrm>
            <a:off x="8001000" y="3566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Key word firs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70332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8778240" y="3547872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Key word first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GOOD, ACT NOW, PAID</a:t>
            </a:r>
            <a:endParaRPr lang="en-US" sz="1500" dirty="0"/>
          </a:p>
        </p:txBody>
      </p:sp>
      <p:sp>
        <p:nvSpPr>
          <p:cNvPr id="19" name="1–2 key presses to an answer icon circle"/>
          <p:cNvSpPr/>
          <p:nvPr/>
        </p:nvSpPr>
        <p:spPr>
          <a:xfrm>
            <a:off x="8001000" y="4617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1–2 key presses to an answer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475488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778240" y="4599432"/>
            <a:ext cx="28648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1–2 key presses to an answer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Longest screen 128 characters (USSD limit 182)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One trusted leader decides for 200 women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9357055" y="109728"/>
            <a:ext cx="2286000" cy="329184"/>
          </a:xfrm>
          <a:prstGeom prst="roundRect">
            <a:avLst>
              <a:gd name="adj" fmla="val 55556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Prototype · simulated</a:t>
            </a:r>
            <a:endParaRPr lang="en-US" sz="1200" dirty="0"/>
          </a:p>
        </p:txBody>
      </p:sp>
      <p:pic>
        <p:nvPicPr>
          <p:cNvPr id="4" name="Leader app: signal tiles per crop" descr="Leader app: signal tiles per 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381307" cy="4617720"/>
          </a:xfrm>
          <a:prstGeom prst="rect">
            <a:avLst/>
          </a:prstGeom>
        </p:spPr>
      </p:pic>
      <p:pic>
        <p:nvPicPr>
          <p:cNvPr id="5" name="Leader app: hotel order with Accept" descr="Leader app: hotel order with Accep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707" y="2240280"/>
            <a:ext cx="1933338" cy="3749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080760"/>
            <a:ext cx="23813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Home: a tile per crop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3295707" y="6080760"/>
            <a:ext cx="193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Sell: a buyer order</a:t>
            </a:r>
            <a:endParaRPr lang="en-US" sz="1100" dirty="0"/>
          </a:p>
        </p:txBody>
      </p:sp>
      <p:sp>
        <p:nvSpPr>
          <p:cNvPr id="8" name="Colour tiles + crop pictures + ♪ audio icon circle"/>
          <p:cNvSpPr/>
          <p:nvPr/>
        </p:nvSpPr>
        <p:spPr>
          <a:xfrm>
            <a:off x="6309360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Colour tiles + crop pictures + ♪ audio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7452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086600" y="1719072"/>
            <a:ext cx="4556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Colour tiles + crop pictures + ♪ audio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Shape and word on every tile, read aloud on tap</a:t>
            </a:r>
            <a:endParaRPr lang="en-US" sz="1500" dirty="0"/>
          </a:p>
        </p:txBody>
      </p:sp>
      <p:sp>
        <p:nvSpPr>
          <p:cNvPr id="11" name="Logs plantings icon circle"/>
          <p:cNvSpPr/>
          <p:nvPr/>
        </p:nvSpPr>
        <p:spPr>
          <a:xfrm>
            <a:off x="6309360" y="3063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Logs planting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2004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086600" y="3044952"/>
            <a:ext cx="4556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Logs plantings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Powers the glut warning for every kafo</a:t>
            </a:r>
            <a:endParaRPr lang="en-US" sz="1500" dirty="0"/>
          </a:p>
        </p:txBody>
      </p:sp>
      <p:sp>
        <p:nvSpPr>
          <p:cNvPr id="14" name="Accept buyer orders in one tap icon circle"/>
          <p:cNvSpPr/>
          <p:nvPr/>
        </p:nvSpPr>
        <p:spPr>
          <a:xfrm>
            <a:off x="6309360" y="4389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Accept buyer orders in one tap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4526280"/>
            <a:ext cx="274320" cy="2743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086600" y="4370832"/>
            <a:ext cx="4556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Accept buyer orders in one tap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Sees the expected cash before accepting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Buyers see the harvest before it exists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9357055" y="109728"/>
            <a:ext cx="2286000" cy="329184"/>
          </a:xfrm>
          <a:prstGeom prst="roundRect">
            <a:avLst>
              <a:gd name="adj" fmla="val 55556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Prototype · simulated</a:t>
            </a:r>
            <a:endParaRPr lang="en-US" sz="1200" dirty="0"/>
          </a:p>
        </p:txBody>
      </p:sp>
      <p:sp>
        <p:nvSpPr>
          <p:cNvPr id="4" name="Buyer dashboard: harvest outlook browser frame"/>
          <p:cNvSpPr/>
          <p:nvPr/>
        </p:nvSpPr>
        <p:spPr>
          <a:xfrm>
            <a:off x="548640" y="1371600"/>
            <a:ext cx="5715000" cy="4765217"/>
          </a:xfrm>
          <a:prstGeom prst="roundRect">
            <a:avLst>
              <a:gd name="adj" fmla="val 1919"/>
            </a:avLst>
          </a:prstGeom>
          <a:solidFill>
            <a:srgbClr val="E3E8E5"/>
          </a:solidFill>
          <a:ln w="9525">
            <a:solidFill>
              <a:srgbClr val="C9D1C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uyer dashboard: harvest outlook window dots 1"/>
          <p:cNvSpPr/>
          <p:nvPr/>
        </p:nvSpPr>
        <p:spPr>
          <a:xfrm>
            <a:off x="685800" y="146304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Buyer dashboard: harvest outlook window dots 2"/>
          <p:cNvSpPr/>
          <p:nvPr/>
        </p:nvSpPr>
        <p:spPr>
          <a:xfrm>
            <a:off x="859536" y="146304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Buyer dashboard: harvest outlook window dots 3"/>
          <p:cNvSpPr/>
          <p:nvPr/>
        </p:nvSpPr>
        <p:spPr>
          <a:xfrm>
            <a:off x="1033272" y="146304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Buyer dashboard: harvest outlook" descr="Buyer dashboard: harvest outl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4208"/>
            <a:ext cx="5715000" cy="447260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228257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Harvest outlook · demo data</a:t>
            </a:r>
            <a:endParaRPr lang="en-US" sz="1100" dirty="0"/>
          </a:p>
        </p:txBody>
      </p:sp>
      <p:pic>
        <p:nvPicPr>
          <p:cNvPr id="10" name="Buyer order card: paid to 3 farmers" descr="Buyer order card: paid to 3 farm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967935" cy="189741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pic>
        <p:nvPicPr>
          <p:cNvPr id="11" name="Farmer phone: PAID SMS" descr="Farmer phone: PAID SM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589054"/>
            <a:ext cx="1404777" cy="2834640"/>
          </a:xfrm>
          <a:prstGeom prst="rect">
            <a:avLst/>
          </a:prstGeom>
        </p:spPr>
      </p:pic>
      <p:sp>
        <p:nvSpPr>
          <p:cNvPr id="12" name="Post orders weeks ahead icon circle"/>
          <p:cNvSpPr/>
          <p:nvPr/>
        </p:nvSpPr>
        <p:spPr>
          <a:xfrm>
            <a:off x="8399937" y="3611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Post orders weeks ahea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237" y="372618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085737" y="3593592"/>
            <a:ext cx="25573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Post orders weeks ahead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</p:txBody>
      </p:sp>
      <p:sp>
        <p:nvSpPr>
          <p:cNvPr id="15" name="Harvest outlook by crop icon circle"/>
          <p:cNvSpPr/>
          <p:nvPr/>
        </p:nvSpPr>
        <p:spPr>
          <a:xfrm>
            <a:off x="8399937" y="4434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Harvest outlook by crop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4237" y="454914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085737" y="4416552"/>
            <a:ext cx="25573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Harvest outlook by crop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</p:txBody>
      </p:sp>
      <p:sp>
        <p:nvSpPr>
          <p:cNvPr id="18" name="Each farmer paid directly, SMS receipt icon circle"/>
          <p:cNvSpPr/>
          <p:nvPr/>
        </p:nvSpPr>
        <p:spPr>
          <a:xfrm>
            <a:off x="8399937" y="5257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Each farmer paid directly, SMS receip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4237" y="5372100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085737" y="5239512"/>
            <a:ext cx="25573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Each farmer paid directly, SMS receipt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Simple tech, chosen on purpose</a:t>
            </a:r>
            <a:endParaRPr lang="en-US" sz="3600" dirty="0"/>
          </a:p>
        </p:txBody>
      </p:sp>
      <p:sp>
        <p:nvSpPr>
          <p:cNvPr id="3" name="today header"/>
          <p:cNvSpPr/>
          <p:nvPr/>
        </p:nvSpPr>
        <p:spPr>
          <a:xfrm>
            <a:off x="548640" y="1325880"/>
            <a:ext cx="41605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TODAY · PROTOTYPE</a:t>
            </a:r>
            <a:endParaRPr lang="en-US" sz="1300" dirty="0"/>
          </a:p>
        </p:txBody>
      </p:sp>
      <p:sp>
        <p:nvSpPr>
          <p:cNvPr id="4" name="live header"/>
          <p:cNvSpPr/>
          <p:nvPr/>
        </p:nvSpPr>
        <p:spPr>
          <a:xfrm>
            <a:off x="7482535" y="1325880"/>
            <a:ext cx="41605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GOING LIVE</a:t>
            </a:r>
            <a:endParaRPr lang="en-US" sz="1300" dirty="0"/>
          </a:p>
        </p:txBody>
      </p:sp>
      <p:sp>
        <p:nvSpPr>
          <p:cNvPr id="5" name="today box 1"/>
          <p:cNvSpPr/>
          <p:nvPr/>
        </p:nvSpPr>
        <p:spPr>
          <a:xfrm>
            <a:off x="548640" y="1828800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6" name="live box 1"/>
          <p:cNvSpPr/>
          <p:nvPr/>
        </p:nvSpPr>
        <p:spPr>
          <a:xfrm>
            <a:off x="7482535" y="1828800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2880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Astro + Tailwind static site on GitHub Pages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47127" y="182880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front end + a small server, cloud host</a:t>
            </a:r>
            <a:endParaRPr lang="en-US" sz="1400" dirty="0"/>
          </a:p>
        </p:txBody>
      </p:sp>
      <p:sp>
        <p:nvSpPr>
          <p:cNvPr id="9" name="link today 1"/>
          <p:cNvSpPr/>
          <p:nvPr/>
        </p:nvSpPr>
        <p:spPr>
          <a:xfrm>
            <a:off x="4709160" y="2084832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10" name="link live 1"/>
          <p:cNvSpPr/>
          <p:nvPr/>
        </p:nvSpPr>
        <p:spPr>
          <a:xfrm>
            <a:off x="7071055" y="2084832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11" name="today box 2"/>
          <p:cNvSpPr/>
          <p:nvPr/>
        </p:nvSpPr>
        <p:spPr>
          <a:xfrm>
            <a:off x="548640" y="2432304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12" name="live box 2"/>
          <p:cNvSpPr/>
          <p:nvPr/>
        </p:nvSpPr>
        <p:spPr>
          <a:xfrm>
            <a:off x="7482535" y="2432304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43230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Browser database: Dexie (IndexedDB) + JSON seed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647127" y="243230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Hosted database</a:t>
            </a:r>
            <a:endParaRPr lang="en-US" sz="1400" dirty="0"/>
          </a:p>
        </p:txBody>
      </p:sp>
      <p:sp>
        <p:nvSpPr>
          <p:cNvPr id="15" name="link today 2"/>
          <p:cNvSpPr/>
          <p:nvPr/>
        </p:nvSpPr>
        <p:spPr>
          <a:xfrm>
            <a:off x="4709160" y="2688336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16" name="link live 2"/>
          <p:cNvSpPr/>
          <p:nvPr/>
        </p:nvSpPr>
        <p:spPr>
          <a:xfrm>
            <a:off x="7071055" y="2688336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17" name="today box 3"/>
          <p:cNvSpPr/>
          <p:nvPr/>
        </p:nvSpPr>
        <p:spPr>
          <a:xfrm>
            <a:off x="548640" y="3035808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18" name="live box 3"/>
          <p:cNvSpPr/>
          <p:nvPr/>
        </p:nvSpPr>
        <p:spPr>
          <a:xfrm>
            <a:off x="7482535" y="3035808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3035808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Our own on-page phone simulator (USSD, SMS)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47127" y="3035808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Operator USSD gateway (session ID → CON / END)</a:t>
            </a:r>
            <a:endParaRPr lang="en-US" sz="1400" dirty="0"/>
          </a:p>
        </p:txBody>
      </p:sp>
      <p:sp>
        <p:nvSpPr>
          <p:cNvPr id="21" name="link today 3"/>
          <p:cNvSpPr/>
          <p:nvPr/>
        </p:nvSpPr>
        <p:spPr>
          <a:xfrm>
            <a:off x="4709160" y="3291840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22" name="link live 3"/>
          <p:cNvSpPr/>
          <p:nvPr/>
        </p:nvSpPr>
        <p:spPr>
          <a:xfrm>
            <a:off x="7071055" y="3291840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23" name="today box 4"/>
          <p:cNvSpPr/>
          <p:nvPr/>
        </p:nvSpPr>
        <p:spPr>
          <a:xfrm>
            <a:off x="548640" y="3639312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24" name="live box 4"/>
          <p:cNvSpPr/>
          <p:nvPr/>
        </p:nvSpPr>
        <p:spPr>
          <a:xfrm>
            <a:off x="7482535" y="3639312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3639312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Recorded voice clips (*4321#), subtitles if missing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647127" y="3639312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clips on an IVR call-back line</a:t>
            </a:r>
            <a:endParaRPr lang="en-US" sz="1400" dirty="0"/>
          </a:p>
        </p:txBody>
      </p:sp>
      <p:sp>
        <p:nvSpPr>
          <p:cNvPr id="27" name="link today 4"/>
          <p:cNvSpPr/>
          <p:nvPr/>
        </p:nvSpPr>
        <p:spPr>
          <a:xfrm>
            <a:off x="4709160" y="3895344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28" name="link live 4"/>
          <p:cNvSpPr/>
          <p:nvPr/>
        </p:nvSpPr>
        <p:spPr>
          <a:xfrm>
            <a:off x="7071055" y="3895344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29" name="today box 5"/>
          <p:cNvSpPr/>
          <p:nvPr/>
        </p:nvSpPr>
        <p:spPr>
          <a:xfrm>
            <a:off x="548640" y="4242816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30" name="live box 5"/>
          <p:cNvSpPr/>
          <p:nvPr/>
        </p:nvSpPr>
        <p:spPr>
          <a:xfrm>
            <a:off x="7482535" y="4242816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" y="424281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Open-Meteo forecast (cached JSON) → admin issues alert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647127" y="424281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Open-Meteo + DWR + Marché Kibaroo prices</a:t>
            </a:r>
            <a:endParaRPr lang="en-US" sz="1400" dirty="0"/>
          </a:p>
        </p:txBody>
      </p:sp>
      <p:sp>
        <p:nvSpPr>
          <p:cNvPr id="33" name="link today 5"/>
          <p:cNvSpPr/>
          <p:nvPr/>
        </p:nvSpPr>
        <p:spPr>
          <a:xfrm>
            <a:off x="4709160" y="4498848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34" name="link live 5"/>
          <p:cNvSpPr/>
          <p:nvPr/>
        </p:nvSpPr>
        <p:spPr>
          <a:xfrm>
            <a:off x="7071055" y="4498848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35" name="today box 6"/>
          <p:cNvSpPr/>
          <p:nvPr/>
        </p:nvSpPr>
        <p:spPr>
          <a:xfrm>
            <a:off x="548640" y="4846320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36" name="live box 6"/>
          <p:cNvSpPr/>
          <p:nvPr/>
        </p:nvSpPr>
        <p:spPr>
          <a:xfrm>
            <a:off x="7482535" y="4846320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" y="484632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Mock payment (labels only)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647127" y="484632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Wave Payout API / Modem Pay with webhooks</a:t>
            </a:r>
            <a:endParaRPr lang="en-US" sz="1400" dirty="0"/>
          </a:p>
        </p:txBody>
      </p:sp>
      <p:sp>
        <p:nvSpPr>
          <p:cNvPr id="39" name="link today 6"/>
          <p:cNvSpPr/>
          <p:nvPr/>
        </p:nvSpPr>
        <p:spPr>
          <a:xfrm>
            <a:off x="4709160" y="5102352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40" name="link live 6"/>
          <p:cNvSpPr/>
          <p:nvPr/>
        </p:nvSpPr>
        <p:spPr>
          <a:xfrm>
            <a:off x="7071055" y="5102352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41" name="rules engine box"/>
          <p:cNvSpPr/>
          <p:nvPr/>
        </p:nvSpPr>
        <p:spPr>
          <a:xfrm>
            <a:off x="5120640" y="1828800"/>
            <a:ext cx="1950415" cy="3529584"/>
          </a:xfrm>
          <a:prstGeom prst="roundRect">
            <a:avLst>
              <a:gd name="adj" fmla="val 5626"/>
            </a:avLst>
          </a:prstGeom>
          <a:solidFill>
            <a:schemeClr val="accent1"/>
          </a:solidFill>
          <a:ln/>
        </p:spPr>
      </p:sp>
      <p:sp>
        <p:nvSpPr>
          <p:cNvPr id="42" name="rules engine icon circle"/>
          <p:cNvSpPr/>
          <p:nvPr/>
        </p:nvSpPr>
        <p:spPr>
          <a:xfrm>
            <a:off x="5775808" y="210312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43" name="rules engi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5828" y="2263140"/>
            <a:ext cx="320040" cy="320040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5257800" y="2880360"/>
            <a:ext cx="16760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Rules engine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one shared JS module</a:t>
            </a:r>
            <a:endParaRPr lang="en-US" sz="15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plant · sell · risk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→ tile · USSD word · voice</a:t>
            </a:r>
            <a:endParaRPr lang="en-US" sz="1500" dirty="0"/>
          </a:p>
        </p:txBody>
      </p:sp>
      <p:sp>
        <p:nvSpPr>
          <p:cNvPr id="45" name="why 1"/>
          <p:cNvSpPr/>
          <p:nvPr/>
        </p:nvSpPr>
        <p:spPr>
          <a:xfrm>
            <a:off x="548640" y="5623560"/>
            <a:ext cx="3515258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  Rules, not AI: transparent, works with little data</a:t>
            </a:r>
            <a:endParaRPr lang="en-US" sz="1200" dirty="0"/>
          </a:p>
        </p:txBody>
      </p:sp>
      <p:sp>
        <p:nvSpPr>
          <p:cNvPr id="46" name="why 2"/>
          <p:cNvSpPr/>
          <p:nvPr/>
        </p:nvSpPr>
        <p:spPr>
          <a:xfrm>
            <a:off x="4338218" y="5623560"/>
            <a:ext cx="3515258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  No server for the demo: runs on any laptop</a:t>
            </a:r>
            <a:endParaRPr lang="en-US" sz="1200" dirty="0"/>
          </a:p>
        </p:txBody>
      </p:sp>
      <p:sp>
        <p:nvSpPr>
          <p:cNvPr id="47" name="why 3"/>
          <p:cNvSpPr/>
          <p:nvPr/>
        </p:nvSpPr>
        <p:spPr>
          <a:xfrm>
            <a:off x="8127797" y="5623560"/>
            <a:ext cx="3515258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  Same rules module in demo and production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Who we work with to go live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8625535" y="109728"/>
            <a:ext cx="3017520" cy="329184"/>
          </a:xfrm>
          <a:prstGeom prst="roundRect">
            <a:avLst>
              <a:gd name="adj" fmla="val 55556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Going live · after the hackathon</a:t>
            </a:r>
            <a:endParaRPr lang="en-US" sz="1200" dirty="0"/>
          </a:p>
        </p:txBody>
      </p:sp>
      <p:sp>
        <p:nvSpPr>
          <p:cNvPr id="4" name="Networks &amp; codes card"/>
          <p:cNvSpPr/>
          <p:nvPr/>
        </p:nvSpPr>
        <p:spPr>
          <a:xfrm>
            <a:off x="548640" y="1417320"/>
            <a:ext cx="541004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5" name="Networks &amp; codes circle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Networks &amp; cod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9164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Networks &amp; codes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331720"/>
            <a:ext cx="412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Africell · QCell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host *1234#, two-way SMS, call-back voice line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PURA (regulator)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licence for the short / USSD code</a:t>
            </a:r>
            <a:endParaRPr lang="en-US" sz="1400" dirty="0"/>
          </a:p>
        </p:txBody>
      </p:sp>
      <p:sp>
        <p:nvSpPr>
          <p:cNvPr id="9" name="Mobile-money payouts card"/>
          <p:cNvSpPr/>
          <p:nvPr/>
        </p:nvSpPr>
        <p:spPr>
          <a:xfrm>
            <a:off x="6233008" y="1417320"/>
            <a:ext cx="541004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0" name="Mobile-money payouts circle"/>
          <p:cNvSpPr/>
          <p:nvPr/>
        </p:nvSpPr>
        <p:spPr>
          <a:xfrm>
            <a:off x="6507328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Mobile-money payout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8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8848" y="169164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Mobile-money payouts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238848" y="2331720"/>
            <a:ext cx="412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Wave Payout API · Modem Pay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pay each farmer directly by phone number, batch payouts</a:t>
            </a:r>
            <a:endParaRPr lang="en-US" sz="1400" dirty="0"/>
          </a:p>
        </p:txBody>
      </p:sp>
      <p:sp>
        <p:nvSpPr>
          <p:cNvPr id="14" name="Prices &amp; weather card"/>
          <p:cNvSpPr/>
          <p:nvPr/>
        </p:nvSpPr>
        <p:spPr>
          <a:xfrm>
            <a:off x="548640" y="3977640"/>
            <a:ext cx="541004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5" name="Prices &amp; weather circle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Prices &amp; weath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89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25196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Prices &amp; weather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892040"/>
            <a:ext cx="412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Marché Kibaroo / MoALFS Planning · DWR · Open-Meteo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market prices, dekadal agromet bulletins, 7-day forecast</a:t>
            </a:r>
            <a:endParaRPr lang="en-US" sz="1400" dirty="0"/>
          </a:p>
        </p:txBody>
      </p:sp>
      <p:sp>
        <p:nvSpPr>
          <p:cNvPr id="19" name="Buyers, reach &amp; trust card"/>
          <p:cNvSpPr/>
          <p:nvPr/>
        </p:nvSpPr>
        <p:spPr>
          <a:xfrm>
            <a:off x="6233008" y="3977640"/>
            <a:ext cx="541004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0" name="Buyers, reach &amp; trust circle"/>
          <p:cNvSpPr/>
          <p:nvPr/>
        </p:nvSpPr>
        <p:spPr>
          <a:xfrm>
            <a:off x="6507328" y="4251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Buyers, reach &amp; trus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488" y="43891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8848" y="425196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Buyers, reach &amp; trust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238848" y="4892040"/>
            <a:ext cx="412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Gambia Hotel Association · WFP Home-Grown School Feeding · ITC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committed pre-harvest orders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Dept. of Agriculture extension · NACOFAG · ROOTS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kafo sign-up, leader training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From demo to pilot in 3 steps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8625535" y="109728"/>
            <a:ext cx="3017520" cy="329184"/>
          </a:xfrm>
          <a:prstGeom prst="roundRect">
            <a:avLst>
              <a:gd name="adj" fmla="val 55556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Going live · after the hackathon</a:t>
            </a:r>
            <a:endParaRPr lang="en-US" sz="1200" dirty="0"/>
          </a:p>
        </p:txBody>
      </p:sp>
      <p:sp>
        <p:nvSpPr>
          <p:cNvPr id="4" name="timeline line"/>
          <p:cNvSpPr/>
          <p:nvPr/>
        </p:nvSpPr>
        <p:spPr>
          <a:xfrm>
            <a:off x="868680" y="1691640"/>
            <a:ext cx="4998720" cy="0"/>
          </a:xfrm>
          <a:prstGeom prst="line">
            <a:avLst/>
          </a:prstGeom>
          <a:noFill/>
          <a:ln w="38100">
            <a:solidFill>
              <a:srgbClr val="C9D1CD"/>
            </a:solidFill>
            <a:prstDash val="solid"/>
          </a:ln>
        </p:spPr>
      </p:sp>
      <p:sp>
        <p:nvSpPr>
          <p:cNvPr id="5" name="phase dot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Now — Demo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222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On-screen USSD/SMS simulator, mock payments.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Cost: D0</a:t>
            </a:r>
            <a:endParaRPr lang="en-US" sz="1400" dirty="0"/>
          </a:p>
        </p:txBody>
      </p:sp>
      <p:sp>
        <p:nvSpPr>
          <p:cNvPr id="9" name="phase dot 2"/>
          <p:cNvSpPr/>
          <p:nvPr/>
        </p:nvSpPr>
        <p:spPr>
          <a:xfrm>
            <a:off x="3048000" y="1417320"/>
            <a:ext cx="548640" cy="54864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480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48000" y="210312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Pilot — 3 kafos in Brikama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048000" y="2697480"/>
            <a:ext cx="222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Outbound SMS via gateway · call-back voice via operator partner · real payouts via Modem Pay / Wave sandbox → live</a:t>
            </a:r>
            <a:endParaRPr lang="en-US" sz="1400" dirty="0"/>
          </a:p>
        </p:txBody>
      </p:sp>
      <p:sp>
        <p:nvSpPr>
          <p:cNvPr id="13" name="phase dot 3"/>
          <p:cNvSpPr/>
          <p:nvPr/>
        </p:nvSpPr>
        <p:spPr>
          <a:xfrm>
            <a:off x="5547360" y="1417320"/>
            <a:ext cx="548640" cy="54864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47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547360" y="210312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Launch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547360" y="2697480"/>
            <a:ext cx="222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 USSD code on Africell + QCell · Marché Kibaroo price feed · buyers onboarded</a:t>
            </a:r>
            <a:endParaRPr lang="en-US" sz="1400" dirty="0"/>
          </a:p>
        </p:txBody>
      </p:sp>
      <p:sp>
        <p:nvSpPr>
          <p:cNvPr id="17" name="pilot measures box"/>
          <p:cNvSpPr/>
          <p:nvPr/>
        </p:nvSpPr>
        <p:spPr>
          <a:xfrm>
            <a:off x="548640" y="4069080"/>
            <a:ext cx="722376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1605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Pilot success measures  </a:t>
            </a:r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3 kafos in Brikama · ~600 women · one dry season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663440"/>
            <a:ext cx="3268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✓  At least 6 in 10 members use *1234# or *4321# every month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274820" y="4663440"/>
            <a:ext cx="3268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✓  At least half the harvest sold through orders agreed in advance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413248"/>
            <a:ext cx="3268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✓  On 9 in 10 orders, farmers are paid within 2 days (48 h)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74820" y="5413248"/>
            <a:ext cx="3268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✓  Farm-gate vs middleman price, measured before and after</a:t>
            </a:r>
            <a:endParaRPr lang="en-US" sz="1400" dirty="0"/>
          </a:p>
        </p:txBody>
      </p:sp>
      <p:sp>
        <p:nvSpPr>
          <p:cNvPr id="23" name="cost box"/>
          <p:cNvSpPr/>
          <p:nvPr/>
        </p:nvSpPr>
        <p:spPr>
          <a:xfrm>
            <a:off x="8183880" y="1371600"/>
            <a:ext cx="3459175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58200" y="1481328"/>
            <a:ext cx="2910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Year 1 cost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PURA fees only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2148840"/>
            <a:ext cx="1813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USSD code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D10,000 + D25,000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180015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D35,000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2743200"/>
            <a:ext cx="1813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toll-free voice number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D5,000 + D7,500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180015" y="2743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D12,500</a:t>
            </a:r>
            <a:endParaRPr lang="en-US" sz="1500" dirty="0"/>
          </a:p>
        </p:txBody>
      </p:sp>
      <p:sp>
        <p:nvSpPr>
          <p:cNvPr id="29" name="cost divider"/>
          <p:cNvSpPr/>
          <p:nvPr/>
        </p:nvSpPr>
        <p:spPr>
          <a:xfrm>
            <a:off x="8458200" y="3611880"/>
            <a:ext cx="2910535" cy="0"/>
          </a:xfrm>
          <a:prstGeom prst="line">
            <a:avLst/>
          </a:prstGeom>
          <a:noFill/>
          <a:ln w="12700">
            <a:solidFill>
              <a:srgbClr val="C9D1C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58200" y="3657600"/>
            <a:ext cx="2910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Total ≈ D47,500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458200" y="4114800"/>
            <a:ext cx="2910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before operator revenue share, or apply for the social-service fee exemption</a:t>
            </a:r>
            <a:endParaRPr lang="en-US" sz="1200" dirty="0"/>
          </a:p>
        </p:txBody>
      </p:sp>
      <p:sp>
        <p:nvSpPr>
          <p:cNvPr id="32" name="running cost box"/>
          <p:cNvSpPr/>
          <p:nvPr/>
        </p:nvSpPr>
        <p:spPr>
          <a:xfrm>
            <a:off x="8183880" y="4983480"/>
            <a:ext cx="3459175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58200" y="5074920"/>
            <a:ext cx="2910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Running cost: SMS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4–10 euro cents per SMS · ~600 farmers × ~10 SMS a season ≈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€240–600 a season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Free for farmers. Paid by sales</a:t>
            </a:r>
            <a:endParaRPr lang="en-US" sz="4000" dirty="0"/>
          </a:p>
        </p:txBody>
      </p:sp>
      <p:sp>
        <p:nvSpPr>
          <p:cNvPr id="3" name="traffic light dots 1"/>
          <p:cNvSpPr/>
          <p:nvPr/>
        </p:nvSpPr>
        <p:spPr>
          <a:xfrm>
            <a:off x="10545775" y="658368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traffic light dots 2"/>
          <p:cNvSpPr/>
          <p:nvPr/>
        </p:nvSpPr>
        <p:spPr>
          <a:xfrm>
            <a:off x="10948111" y="65836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raffic light dots 3"/>
          <p:cNvSpPr/>
          <p:nvPr/>
        </p:nvSpPr>
        <p:spPr>
          <a:xfrm>
            <a:off x="11350447" y="65836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</a:rPr>
              <a:t>Success = Fatou plants what's needed, sells before harvest, and is paid on her phone.</a:t>
            </a:r>
            <a:endParaRPr lang="en-US" sz="1800" dirty="0"/>
          </a:p>
        </p:txBody>
      </p:sp>
      <p:sp>
        <p:nvSpPr>
          <p:cNvPr id="7" name="closing card"/>
          <p:cNvSpPr/>
          <p:nvPr/>
        </p:nvSpPr>
        <p:spPr>
          <a:xfrm>
            <a:off x="548640" y="1920240"/>
            <a:ext cx="5410048" cy="2971800"/>
          </a:xfrm>
          <a:prstGeom prst="roundRect">
            <a:avLst>
              <a:gd name="adj" fmla="val 3692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8" name="closing card"/>
          <p:cNvSpPr/>
          <p:nvPr/>
        </p:nvSpPr>
        <p:spPr>
          <a:xfrm>
            <a:off x="6233008" y="1920240"/>
            <a:ext cx="5410048" cy="2971800"/>
          </a:xfrm>
          <a:prstGeom prst="roundRect">
            <a:avLst>
              <a:gd name="adj" fmla="val 3692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9" name="business model circle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business mode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274570"/>
            <a:ext cx="251460" cy="2514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214884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Business model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78892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Buyers pay a small fee, about D2–3 per D100, on each completed order.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Esoko stopped selling farmer-paid price services in 2016 after heavy losses.</a:t>
            </a:r>
            <a:endParaRPr lang="en-US" sz="1500" dirty="0"/>
          </a:p>
        </p:txBody>
      </p:sp>
      <p:sp>
        <p:nvSpPr>
          <p:cNvPr id="13" name="unit example"/>
          <p:cNvSpPr/>
          <p:nvPr/>
        </p:nvSpPr>
        <p:spPr>
          <a:xfrm>
            <a:off x="822960" y="3931920"/>
            <a:ext cx="4861408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60120" y="3931920"/>
            <a:ext cx="458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One 150 kg okra order = D15,750 to 3 farmers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→ the buyer pays a D394 fee (2.5%)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demo prices · the prototype's fee setting</a:t>
            </a:r>
            <a:endParaRPr lang="en-US" sz="1400" dirty="0"/>
          </a:p>
        </p:txBody>
      </p:sp>
      <p:sp>
        <p:nvSpPr>
          <p:cNvPr id="15" name="trust circle"/>
          <p:cNvSpPr/>
          <p:nvPr/>
        </p:nvSpPr>
        <p:spPr>
          <a:xfrm>
            <a:off x="6507328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trus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274570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93128" y="214884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Trust built in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2788920"/>
            <a:ext cx="48614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✓  Verified leaders &amp; buyers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✓  Every answer shows its reason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✓  Each farmer paid directly, with SMS receipt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✓  Buyers can't cancel after planting</a:t>
            </a:r>
            <a:endParaRPr lang="en-US" sz="1600" dirty="0"/>
          </a:p>
        </p:txBody>
      </p:sp>
      <p:sp>
        <p:nvSpPr>
          <p:cNvPr id="19" name="ask strip"/>
          <p:cNvSpPr/>
          <p:nvPr/>
        </p:nvSpPr>
        <p:spPr>
          <a:xfrm>
            <a:off x="548640" y="516636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</p:spPr>
      </p:sp>
      <p:sp>
        <p:nvSpPr>
          <p:cNvPr id="20" name="ask pill"/>
          <p:cNvSpPr/>
          <p:nvPr/>
        </p:nvSpPr>
        <p:spPr>
          <a:xfrm>
            <a:off x="822960" y="5431536"/>
            <a:ext cx="137160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Our ask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2423160" y="5166360"/>
            <a:ext cx="9037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Pilot with 3 kafos in Brikama · Intro to Africell &amp; QCell · PURA social-service exemption · Marché Kibaroo price feed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Appendix: facts we checked</a:t>
            </a:r>
            <a:endParaRPr lang="en-US" sz="3600" dirty="0"/>
          </a:p>
        </p:txBody>
      </p:sp>
      <p:graphicFrame>
        <p:nvGraphicFramePr>
          <p:cNvPr id="16" name="fac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572000"/>
                <a:gridCol w="3322015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Fact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Extension workers to farmers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: 3,000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DG of Agriculture, May 2025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Farm households with market information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22.1%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Agricultural Census 2011/12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Vegetables lost after harvest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Up to half (Gambia + Sub-Saharan Africa)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AfDB via AllAfrica, Jun 2026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Literacy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Women 47% vs men 67%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Team research report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Women in community gardens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6,600 women in 33 NEMA gardens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IISD / IFAD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Onion price gap, same week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D1,200 vs D1,400 per bag (Jul 2026)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DUBAWA via team research report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Price information alone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+10% maize, +7% groundnut (Ghana/Esoko)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Courtois &amp; Subervie 2015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Buyer before planting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“We know we have a buyer before we even plant.”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Kumba Jallow, Jahaur · GAFSP, Mar 2026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WFP school feeding (2025/26)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164,194 children in 422 schools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WFP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PURA short / USSD code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D10,000 + D25,000/yr; social-service exempt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PURA Unified Fees Regulations 2026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PURA toll-free · VAS licence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D5,000 + D7,500/yr · D75,000 + US$10,000 (5 yrs)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PURA Unified Fees Regulations 2026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International SMS gateways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€0.032–0.10 per SMS; no two-way SMS or short codes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budgetsms.net · sent.dm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USSD screen limit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182 characters per screen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helloduty.com USSD guide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Africa's Talking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Gambia not listed → not used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help.africastalking.com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fo Signal">
  <a:themeElements>
    <a:clrScheme name="Kafo Signal">
      <a:dk1>
        <a:srgbClr val="1B1B1B"/>
      </a:dk1>
      <a:lt1>
        <a:srgbClr val="FFFFFF"/>
      </a:lt1>
      <a:dk2>
        <a:srgbClr val="14402F"/>
      </a:dk2>
      <a:lt2>
        <a:srgbClr val="F1F5F2"/>
      </a:lt2>
      <a:accent1>
        <a:srgbClr val="2E9E4F"/>
      </a:accent1>
      <a:accent2>
        <a:srgbClr val="F2B705"/>
      </a:accent2>
      <a:accent3>
        <a:srgbClr val="D93B30"/>
      </a:accent3>
      <a:accent4>
        <a:srgbClr val="5F6B66"/>
      </a:accent4>
      <a:accent5>
        <a:srgbClr val="14402F"/>
      </a:accent5>
      <a:accent6>
        <a:srgbClr val="2E9E4F"/>
      </a:accent6>
      <a:hlink>
        <a:srgbClr val="2E9E4F"/>
      </a:hlink>
      <a:folHlink>
        <a:srgbClr val="5F6B66"/>
      </a:folHlink>
    </a:clrScheme>
    <a:fontScheme name="Kafo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Kafo Signal</dc:title>
  <dc:subject>PptxGenJS Presentation</dc:subject>
  <dc:creator>Linear Growth</dc:creator>
  <cp:lastModifiedBy>Linear Growth</cp:lastModifiedBy>
  <cp:revision>1</cp:revision>
  <dcterms:created xsi:type="dcterms:W3CDTF">2026-10-21T10:56:31Z</dcterms:created>
  <dcterms:modified xsi:type="dcterms:W3CDTF">2026-10-21T10:56:31Z</dcterms:modified>
</cp:coreProperties>
</file>